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2_43531EBB.xml" ContentType="application/vnd.ms-powerpoint.comments+xml"/>
  <Override PartName="/ppt/comments/modernComment_104_41BDAE2B.xml" ContentType="application/vnd.ms-powerpoint.comments+xml"/>
  <Override PartName="/ppt/comments/modernComment_117_4283D499.xml" ContentType="application/vnd.ms-powerpoint.comments+xml"/>
  <Override PartName="/ppt/comments/modernComment_105_A6B4DAE7.xml" ContentType="application/vnd.ms-powerpoint.comments+xml"/>
  <Override PartName="/ppt/comments/modernComment_119_37E39641.xml" ContentType="application/vnd.ms-powerpoint.comments+xml"/>
  <Override PartName="/ppt/comments/modernComment_108_1A2C6EF9.xml" ContentType="application/vnd.ms-powerpoint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omments/modernComment_125_286396BA.xml" ContentType="application/vnd.ms-powerpoint.comments+xml"/>
  <Override PartName="/ppt/ink/ink8.xml" ContentType="application/inkml+xml"/>
  <Override PartName="/ppt/comments/modernComment_10D_3402FF63.xml" ContentType="application/vnd.ms-powerpoint.comments+xml"/>
  <Override PartName="/ppt/comments/modernComment_10C_DC462AF9.xml" ContentType="application/vnd.ms-powerpoint.comments+xml"/>
  <Override PartName="/ppt/comments/modernComment_10E_7F9B4EBE.xml" ContentType="application/vnd.ms-powerpoint.comments+xml"/>
  <Override PartName="/ppt/comments/modernComment_10F_B3E02B3E.xml" ContentType="application/vnd.ms-powerpoint.comments+xml"/>
  <Override PartName="/ppt/comments/modernComment_111_25DAD37D.xml" ContentType="application/vnd.ms-powerpoint.comments+xml"/>
  <Override PartName="/ppt/comments/modernComment_113_E62EF5A9.xml" ContentType="application/vnd.ms-powerpoint.comments+xml"/>
  <Override PartName="/ppt/comments/modernComment_123_12CCEFCA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60" r:id="rId7"/>
    <p:sldId id="279" r:id="rId8"/>
    <p:sldId id="261" r:id="rId9"/>
    <p:sldId id="281" r:id="rId10"/>
    <p:sldId id="263" r:id="rId11"/>
    <p:sldId id="264" r:id="rId12"/>
    <p:sldId id="282" r:id="rId13"/>
    <p:sldId id="265" r:id="rId14"/>
    <p:sldId id="262" r:id="rId15"/>
    <p:sldId id="287" r:id="rId16"/>
    <p:sldId id="288" r:id="rId17"/>
    <p:sldId id="289" r:id="rId18"/>
    <p:sldId id="290" r:id="rId19"/>
    <p:sldId id="267" r:id="rId20"/>
    <p:sldId id="293" r:id="rId21"/>
    <p:sldId id="269" r:id="rId22"/>
    <p:sldId id="268" r:id="rId23"/>
    <p:sldId id="270" r:id="rId24"/>
    <p:sldId id="271" r:id="rId25"/>
    <p:sldId id="273" r:id="rId26"/>
    <p:sldId id="275" r:id="rId27"/>
    <p:sldId id="291" r:id="rId28"/>
    <p:sldId id="292" r:id="rId29"/>
    <p:sldId id="256" r:id="rId3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60B5C66-DB3D-DB57-188F-38A214EE2541}" name="Mariah Luisa de Oliveira Cesar" initials="MC" userId="S::Mariah.Cesar093@univap.fve.edu.br::7e8f2cf4-8a4a-41e0-a08f-17569d0432d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B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h Luisa de Oliveira Cesar" userId="7e8f2cf4-8a4a-41e0-a08f-17569d0432d5" providerId="ADAL" clId="{F3FEC931-FBF3-444F-9FC7-4BDDC9C917A1}"/>
    <pc:docChg chg="modSld">
      <pc:chgData name="Mariah Luisa de Oliveira Cesar" userId="7e8f2cf4-8a4a-41e0-a08f-17569d0432d5" providerId="ADAL" clId="{F3FEC931-FBF3-444F-9FC7-4BDDC9C917A1}" dt="2026-08-31T00:08:29.226" v="3" actId="14100"/>
      <pc:docMkLst>
        <pc:docMk/>
      </pc:docMkLst>
      <pc:sldChg chg="modSp mod">
        <pc:chgData name="Mariah Luisa de Oliveira Cesar" userId="7e8f2cf4-8a4a-41e0-a08f-17569d0432d5" providerId="ADAL" clId="{F3FEC931-FBF3-444F-9FC7-4BDDC9C917A1}" dt="2026-08-31T00:08:29.226" v="3" actId="14100"/>
        <pc:sldMkLst>
          <pc:docMk/>
          <pc:sldMk cId="3861837225" sldId="275"/>
        </pc:sldMkLst>
        <pc:picChg chg="mod">
          <ac:chgData name="Mariah Luisa de Oliveira Cesar" userId="7e8f2cf4-8a4a-41e0-a08f-17569d0432d5" providerId="ADAL" clId="{F3FEC931-FBF3-444F-9FC7-4BDDC9C917A1}" dt="2026-08-31T00:08:29.226" v="3" actId="14100"/>
          <ac:picMkLst>
            <pc:docMk/>
            <pc:sldMk cId="3861837225" sldId="275"/>
            <ac:picMk id="9" creationId="{B323F5DA-CDAA-D68A-E386-F2FBCDD9C511}"/>
          </ac:picMkLst>
        </pc:picChg>
      </pc:sldChg>
    </pc:docChg>
  </pc:docChgLst>
</pc:chgInfo>
</file>

<file path=ppt/comments/modernComment_10C_DC462AF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F562C1-FC8C-43E5-B659-D2AEC1B93360}" authorId="{E60B5C66-DB3D-DB57-188F-38A214EE2541}" created="2026-05-19T19:16:14.028">
    <pc:sldMkLst xmlns:pc="http://schemas.microsoft.com/office/powerpoint/2013/main/command">
      <pc:docMk/>
      <pc:sldMk cId="3695586041" sldId="268"/>
    </pc:sldMkLst>
    <p188:txBody>
      <a:bodyPr/>
      <a:lstStyle/>
      <a:p>
        <a:r>
          <a:rPr lang="pt-BR"/>
          <a:t>Falar que durante a fase de declínio ne a ionosefera tende a ficar um pouco mais agitada e as camadas esporadicas seguiram esse comportamento.</a:t>
        </a:r>
      </a:p>
    </p188:txBody>
  </p188:cm>
  <p188:cm id="{EFC013AC-5168-40BA-A548-E0F7EA9AF6ED}" authorId="{E60B5C66-DB3D-DB57-188F-38A214EE2541}" created="2026-05-19T20:44:49.625">
    <pc:sldMkLst xmlns:pc="http://schemas.microsoft.com/office/powerpoint/2013/main/command">
      <pc:docMk/>
      <pc:sldMk cId="3695586041" sldId="268"/>
    </pc:sldMkLst>
    <p188:txBody>
      <a:bodyPr/>
      <a:lstStyle/>
      <a:p>
        <a:r>
          <a:rPr lang="pt-BR"/>
          <a:t>O ponto central é que as ocorrências de Es acompanham o F10.7 — quando o fluxo solar cai (2018–2020), o número total de eventos cai junto. Isso conecta a ocorrência de Es com a ionização fotoquímica de fundo da região E. Em 2014 o número é baixo não porque o sol estava fraco, mas porque os dados ainda eram escassos no início do período. O pico em 2015–2016 corresponde ao máximo do ciclo solar 24. Em todos os anos, Esl (azul) e Esf (laranja) dominam o volume total, reforçando o padrão morfológico já discutido.</a:t>
        </a:r>
      </a:p>
    </p188:txBody>
  </p188:cm>
</p188:cmLst>
</file>

<file path=ppt/comments/modernComment_10D_3402FF6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E43D2FD-E92B-4446-94F9-22D7698E8326}" authorId="{E60B5C66-DB3D-DB57-188F-38A214EE2541}" created="2026-05-19T19:17:16.885">
    <pc:sldMkLst xmlns:pc="http://schemas.microsoft.com/office/powerpoint/2013/main/command">
      <pc:docMk/>
      <pc:sldMk cId="872611683" sldId="269"/>
    </pc:sldMkLst>
    <p188:txBody>
      <a:bodyPr/>
      <a:lstStyle/>
      <a:p>
        <a:r>
          <a:rPr lang="pt-BR"/>
          <a:t>O tipo s mostrou ali um aumento das ocorrencias em tempestades intensas, como mostra tb no grafico da icme </a:t>
        </a:r>
      </a:p>
    </p188:txBody>
  </p188:cm>
  <p188:cm id="{F7FC3D1F-40EE-4F4D-92AC-1E4263700459}" authorId="{E60B5C66-DB3D-DB57-188F-38A214EE2541}" created="2026-05-19T20:44:04.495">
    <pc:sldMkLst xmlns:pc="http://schemas.microsoft.com/office/powerpoint/2013/main/command">
      <pc:docMk/>
      <pc:sldMk cId="872611683" sldId="269"/>
    </pc:sldMkLst>
    <p188:txBody>
      <a:bodyPr/>
      <a:lstStyle/>
      <a:p>
        <a:r>
          <a:rPr lang="pt-BR"/>
          <a:t>Gráfico direito (por driver):
A distribuição entre ICME, CIR e SIR é surpreendentemente parecida — todos mostram a mesma dominância de Esl + Esf. Isso indica que o tipo morfológico da Es não depende fortemente do driver da tempestade, sendo controlado principalmente pelo mecanismo de cisalhamento de vento que é independente da origem da perturbação. Essa é uma conclusão relevante para a discussão do seu trabalho.</a:t>
        </a:r>
      </a:p>
    </p188:txBody>
  </p188:cm>
</p188:cmLst>
</file>

<file path=ppt/comments/modernComment_10E_7F9B4EB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736CD72-8217-46F5-940E-3BBAFBA43B76}" authorId="{E60B5C66-DB3D-DB57-188F-38A214EE2541}" created="2026-05-19T20:45:16.657">
    <pc:sldMkLst xmlns:pc="http://schemas.microsoft.com/office/powerpoint/2013/main/command">
      <pc:docMk/>
      <pc:sldMk cId="2140884670" sldId="270"/>
    </pc:sldMkLst>
    <p188:txBody>
      <a:bodyPr/>
      <a:lstStyle/>
      <a:p>
        <a:r>
          <a:rPr lang="pt-BR"/>
          <a:t>A diferença mais marcante é que a Fase de Recuperação concentra mais ocorrências de Esl (azul baixa para ~40% na fase inicial, sobe na recuperação), enquanto o tipo Esf (laranja) é proporcionalmente mais forte na fase inicial/principal. Mais importante: o tipo Esc (verde) aparece de forma mais expressiva na Fase de Recuperação — isso é fisicamente consistente com a literatura, que aponta que durante a recuperação os ventos tidais voltam a ser o mecanismo dominante (os campos elétricos perturbados se dissipam), favorecendo a formação de camadas com perfil de cusp. O tipo Ess (roxo) também é levemente maior na recuperação, sugerindo ondas de gravidade residuais ainda modulando a Es nessa fase.</a:t>
        </a:r>
      </a:p>
    </p188:txBody>
  </p188:cm>
</p188:cmLst>
</file>

<file path=ppt/comments/modernComment_10F_B3E02B3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95879B5-2793-4748-BD96-E876079043BB}" authorId="{E60B5C66-DB3D-DB57-188F-38A214EE2541}" created="2026-05-19T20:45:58.049">
    <pc:sldMkLst xmlns:pc="http://schemas.microsoft.com/office/powerpoint/2013/main/command">
      <pc:docMk/>
      <pc:sldMk cId="3017812798" sldId="271"/>
    </pc:sldMkLst>
    <p188:txBody>
      <a:bodyPr/>
      <a:lstStyle/>
      <a:p>
        <a:r>
          <a:rPr lang="pt-BR"/>
          <a:t>Isso reforça que o critério de classificação morfológica está sendo aplicado corretamente, e que o horário do dia é um condicionante fundamental do tipo observado</a:t>
        </a:r>
      </a:p>
    </p188:txBody>
  </p188:cm>
</p188:cmLst>
</file>

<file path=ppt/comments/modernComment_102_43531EB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C7CC6FA-8A6A-45F7-8E4F-43F12C6683DE}" authorId="{E60B5C66-DB3D-DB57-188F-38A214EE2541}" created="2026-05-15T19:37:53.127">
    <pc:sldMkLst xmlns:pc="http://schemas.microsoft.com/office/powerpoint/2013/main/command">
      <pc:docMk/>
      <pc:sldMk cId="1129520827" sldId="258"/>
    </pc:sldMkLst>
    <p188:txBody>
      <a:bodyPr/>
      <a:lstStyle/>
      <a:p>
        <a:r>
          <a:rPr lang="pt-BR"/>
          <a:t>investigando o comportamento das camadas E esporádicas durante tempestades geomagnéticas ocorridas entre 2014 e 2020 — período associado à transição entre os ciclos solares 24 e 25.</a:t>
        </a:r>
      </a:p>
    </p188:txBody>
  </p188:cm>
</p188:cmLst>
</file>

<file path=ppt/comments/modernComment_104_41BDAE2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B55832B-D16F-4649-8234-73D1BB756A2E}" authorId="{E60B5C66-DB3D-DB57-188F-38A214EE2541}" created="2026-05-15T20:02:11.17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102949931" sldId="260"/>
      <ac:spMk id="3" creationId="{4585AD09-65EC-F0A4-DF9B-618AFDA8A6B6}"/>
      <ac:txMk cp="0">
        <ac:context len="435" hash="2078902579"/>
      </ac:txMk>
    </ac:txMkLst>
    <p188:pos x="5507053" y="280306"/>
    <p188:txBody>
      <a:bodyPr/>
      <a:lstStyle/>
      <a:p>
        <a:r>
          <a:rPr lang="pt-BR"/>
          <a:t>Essas perturbações resultam de variações no vento solar que produzem mudanças significativas nas correntes, nos plasmas e nos campos magnéticos ao redor da Terra.</a:t>
        </a:r>
      </a:p>
    </p188:txBody>
  </p188:cm>
</p188:cmLst>
</file>

<file path=ppt/comments/modernComment_105_A6B4DAE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BC223B8-AFF5-4DE3-9C02-44E9811FBCD0}" authorId="{E60B5C66-DB3D-DB57-188F-38A214EE2541}" created="2026-05-16T19:33:16.57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96870375" sldId="261"/>
      <ac:spMk id="3" creationId="{06A2D2BC-97D7-6C56-1D4E-75F36AF59699}"/>
      <ac:txMk cp="147">
        <ac:context len="439" hash="2495318567"/>
      </ac:txMk>
    </ac:txMkLst>
    <p188:pos x="3568379" y="1380692"/>
    <p188:txBody>
      <a:bodyPr/>
      <a:lstStyle/>
      <a:p>
        <a:r>
          <a:rPr lang="pt-BR"/>
          <a:t>de acordo com a densidade eletrônica e os processos de ionização predominantes:</a:t>
        </a:r>
      </a:p>
    </p188:txBody>
  </p188:cm>
</p188:cmLst>
</file>

<file path=ppt/comments/modernComment_108_1A2C6EF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155EF06-F703-47C5-881A-89217B29A280}" authorId="{E60B5C66-DB3D-DB57-188F-38A214EE2541}" created="2026-05-13T20:03:36.5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39119609" sldId="264"/>
      <ac:spMk id="3" creationId="{359E8FE1-C71C-311D-3F1A-B9F48E7F0B60}"/>
    </ac:deMkLst>
    <p188:txBody>
      <a:bodyPr/>
      <a:lstStyle/>
      <a:p>
        <a:r>
          <a:rPr lang="pt-BR"/>
          <a:t> O índice Dst é uma 
medida da variabilidade da componente horizontal do campo magnético da Terra, o qual sofre 
perturbações durante o período de tempestades geomagnéticas. O índice SYM-H também é 
uma medida da variabilidade da componente horizontal do campo magnético terrestre, porém, 
ele é mais robusto pois os valores são calculados à cada 1 minuto, enquanto no Dst são 
disponibilizados valores médios por hora.   </a:t>
        </a:r>
      </a:p>
    </p188:txBody>
  </p188:cm>
</p188:cmLst>
</file>

<file path=ppt/comments/modernComment_111_25DAD37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8FA6E17-CA90-4902-8F8E-6BBBE3577519}" authorId="{E60B5C66-DB3D-DB57-188F-38A214EE2541}" created="2026-05-19T20:46:26.350">
    <pc:sldMkLst xmlns:pc="http://schemas.microsoft.com/office/powerpoint/2013/main/command">
      <pc:docMk/>
      <pc:sldMk cId="635097981" sldId="273"/>
    </pc:sldMkLst>
    <p188:txBody>
      <a:bodyPr/>
      <a:lstStyle/>
      <a:p>
        <a:r>
          <a:rPr lang="pt-BR"/>
          <a:t>No Verão e Inverno, Esl e Esf dominam de forma relativamente equilibrada entre si. No Equinócio de Outono (março), há picos expressivos de Esf (laranja) em 2014 — chegando a ~85% — sugerindo atividade noturna intensa durante equinócios de outono, o que é consistente com o padrão equinocial já descrito por Arras et al. (2008) e mencionado no artigo de Conceição-Santos. No Equinócio de Primavera (setembro), nota-se um papel maior do tipo Esh (vermelho) comparado às outras estações — isso é fisicamente interessante pois setembro é o mês com menor ocorrência geral de Es segundo o artigo base, mas as camadas que aparecem tendem a ser do tipo alto (Esh), possivelmente ligadas a ventos semindiurnos mais ativos nessa estação.</a:t>
        </a:r>
      </a:p>
    </p188:txBody>
  </p188:cm>
  <p188:cm id="{CE957CF0-5D72-43E3-AACB-80751BE1086A}" authorId="{E60B5C66-DB3D-DB57-188F-38A214EE2541}" created="2026-05-19T20:48:39.342">
    <pc:sldMkLst xmlns:pc="http://schemas.microsoft.com/office/powerpoint/2013/main/command">
      <pc:docMk/>
      <pc:sldMk cId="635097981" sldId="273"/>
    </pc:sldMkLst>
    <p188:txBody>
      <a:bodyPr/>
      <a:lstStyle/>
      <a:p>
        <a:r>
          <a:rPr lang="pt-BR"/>
          <a:t>Também olhamos para as estações do ano neste gráfico. A variação que vemos aqui acontece porque a dinâmica dos ventos na alta atmosfera muda dependendo da época do ano. Em algumas estações, as marés atmosféricas sopram de um jeito que facilita o cisalhamento (o aperto dos íons), e em outras épocas isso fica menos eficiente</a:t>
        </a:r>
      </a:p>
    </p188:txBody>
  </p188:cm>
  <p188:cm id="{7D279467-0E94-4AB6-B771-A1DB250C5423}" authorId="{E60B5C66-DB3D-DB57-188F-38A214EE2541}" created="2026-05-19T20:48:50.073">
    <pc:sldMkLst xmlns:pc="http://schemas.microsoft.com/office/powerpoint/2013/main/command">
      <pc:docMk/>
      <pc:sldMk cId="635097981" sldId="273"/>
    </pc:sldMkLst>
    <p188:txBody>
      <a:bodyPr/>
      <a:lstStyle/>
      <a:p>
        <a:r>
          <a:rPr lang="pt-BR"/>
          <a:t> os equinócios favorecem o cisalhamento pela maior amplitude das marés semidiurnas, o verão favorece pela maior disponibilidade de íons metálicos, e o inverno mantém um nível basal mais estável — cada estação age por um mecanismo ligeiramente diferente.</a:t>
        </a:r>
      </a:p>
    </p188:txBody>
  </p188:cm>
</p188:cmLst>
</file>

<file path=ppt/comments/modernComment_113_E62EF5A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AC2207F-3370-4D16-AC6B-0E00F31DE294}" authorId="{E60B5C66-DB3D-DB57-188F-38A214EE2541}" created="2026-05-19T20:18:44.740">
    <pc:sldMkLst xmlns:pc="http://schemas.microsoft.com/office/powerpoint/2013/main/command">
      <pc:docMk/>
      <pc:sldMk cId="3861837225" sldId="275"/>
    </pc:sldMkLst>
    <p188:txBody>
      <a:bodyPr/>
      <a:lstStyle/>
      <a:p>
        <a:r>
          <a:rPr lang="pt-BR"/>
          <a:t>O objetivo era verificar se havia evidências de ionização extra na região E causada por precipitação de partículas energéticas da anomalia SAMA durante uma tempestade moderada. Para isso, escolheram os parâmetros fbEs (frequência de cobertura — blanketing) e ftEs (frequência de topo — top frequency), porque ambos refletem diretamente a densidade eletrônica das camadas Es.</a:t>
        </a:r>
      </a:p>
    </p188:txBody>
  </p188:cm>
  <p188:cm id="{81E27237-AB06-4498-892C-E6330DFA04D5}" authorId="{E60B5C66-DB3D-DB57-188F-38A214EE2541}" created="2026-05-19T20:50:26.693">
    <pc:sldMkLst xmlns:pc="http://schemas.microsoft.com/office/powerpoint/2013/main/command">
      <pc:docMk/>
      <pc:sldMk cId="3861837225" sldId="275"/>
    </pc:sldMkLst>
    <p188:txBody>
      <a:bodyPr/>
      <a:lstStyle/>
      <a:p>
        <a:r>
          <a:rPr lang="pt-BR"/>
          <a:t>Painel superior (ftEs): Nos dias 7 e 8/09, os valores perturbados (vermelho) ficam próximos ou abaixo da média quieta (cinza). No dia 8/09 há alguns picos esparsos mas sem padrão coerente. Nos dias 9 e 10/09 (fase de recuperação) surgem picos mais organizados e acima da média. Isso é consistente com a supressão de Es durante a fase principal e recuperação gradual.
Painel do meio (fbEs): Aqui fica evidente o que você identificou — os valores de fbEs ficam abaixo de 2 MHz durante praticamente toda a tempestade, especialmente nos dias 7 e 8/09. Isso confirma que a camada Es blanketing estava praticamente ausente ou muito fraca durante a fase principal da ICME. A explicação mais provável, olhando o painel inferior, é a combinação de campo elétrico de penetração com possível absorção de rádio pelos flares X que precederam a ICME.
Painel inferior (Kp e Dst): O Kp diário chegou a 207 no dia 8/09 — valor extremamente elevado — com Dst atingindo aproximadamente −150 nT, o que classifica o evento como tempestade intensa a severa. Esse nível de perturbação é suficiente para suprimir completamente o mecanismo de cisalhamento de vento que forma as camadas Es, o que explica diretamente o fbEs baixo que você observou.</a:t>
        </a:r>
      </a:p>
    </p188:txBody>
  </p188:cm>
</p188:cmLst>
</file>

<file path=ppt/comments/modernComment_117_4283D49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FDAE6E5-D5A3-4A0A-AA16-685BE759615D}" authorId="{E60B5C66-DB3D-DB57-188F-38A214EE2541}" created="2026-05-15T20:07:43.77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115935897" sldId="279"/>
      <ac:spMk id="3" creationId="{1956FA5A-EFBD-C4E9-769C-AF12063A7AC4}"/>
      <ac:txMk cp="106">
        <ac:context len="484" hash="2836681647"/>
      </ac:txMk>
    </ac:txMkLst>
    <p188:pos x="4512134" y="1108181"/>
    <p188:txBody>
      <a:bodyPr/>
      <a:lstStyle/>
      <a:p>
        <a:r>
          <a:rPr lang="pt-BR"/>
          <a:t>Apresentam SSC bem definido e são responsáveis pelas tempestades de maior intensidade.</a:t>
        </a:r>
      </a:p>
    </p188:txBody>
  </p188:cm>
  <p188:cm id="{4214002D-31FD-43DA-9E00-B1FEB33897E9}" authorId="{E60B5C66-DB3D-DB57-188F-38A214EE2541}" created="2026-05-15T20:08:27.85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115935897" sldId="279"/>
      <ac:spMk id="3" creationId="{1956FA5A-EFBD-C4E9-769C-AF12063A7AC4}"/>
      <ac:txMk cp="200">
        <ac:context len="484" hash="2836681647"/>
      </ac:txMk>
    </ac:txMkLst>
    <p188:pos x="4492256" y="1654833"/>
    <p188:txBody>
      <a:bodyPr/>
      <a:lstStyle/>
      <a:p>
        <a:r>
          <a:rPr lang="pt-BR"/>
          <a:t>sem SSC bem definido e com fase de recuperação mais longa.</a:t>
        </a:r>
      </a:p>
    </p188:txBody>
  </p188:cm>
  <p188:cm id="{ED2F1699-0E77-47DD-958F-ABB54D3E3F8D}" authorId="{E60B5C66-DB3D-DB57-188F-38A214EE2541}" created="2026-05-15T20:09:00.41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115935897" sldId="279"/>
      <ac:spMk id="3" creationId="{1956FA5A-EFBD-C4E9-769C-AF12063A7AC4}"/>
      <ac:txMk cp="399">
        <ac:context len="484" hash="2836681647"/>
      </ac:txMk>
    </ac:txMkLst>
    <p188:pos x="4730795" y="2201485"/>
    <p188:txBody>
      <a:bodyPr/>
      <a:lstStyle/>
      <a:p>
        <a:r>
          <a:rPr lang="pt-BR"/>
          <a:t>Diferem das CIRs pelo período de atividade — quando a estrutura completa uma rotação solar, torna-se uma CIR.</a:t>
        </a:r>
      </a:p>
    </p188:txBody>
  </p188:cm>
</p188:cmLst>
</file>

<file path=ppt/comments/modernComment_119_37E3964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55E519C-401F-4B58-9250-4F2656A07E67}" authorId="{E60B5C66-DB3D-DB57-188F-38A214EE2541}" created="2026-05-16T19:42:55.11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937662017" sldId="281"/>
      <ac:spMk id="3" creationId="{74CA7DD9-9E40-5ABA-48B6-1AF265CF1D22}"/>
      <ac:txMk cp="0">
        <ac:context len="359" hash="2572285408"/>
      </ac:txMk>
    </ac:txMkLst>
    <p188:pos x="5963711" y="1376635"/>
    <p188:txBody>
      <a:bodyPr/>
      <a:lstStyle/>
      <a:p>
        <a:r>
          <a:rPr lang="pt-BR"/>
          <a:t>— provenientes da ablação de meteoros —, </a:t>
        </a:r>
      </a:p>
    </p188:txBody>
  </p188:cm>
  <p188:cm id="{37E7DF27-4EF1-4FA7-86E8-1760DCCE2C0D}" authorId="{E60B5C66-DB3D-DB57-188F-38A214EE2541}" created="2026-05-16T19:44:11.15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937662017" sldId="281"/>
      <ac:spMk id="3" creationId="{74CA7DD9-9E40-5ABA-48B6-1AF265CF1D22}"/>
      <ac:txMk cp="0">
        <ac:context len="359" hash="2572285408"/>
      </ac:txMk>
    </ac:txMkLst>
    <p188:pos x="5963711" y="1376635"/>
    <p188:txBody>
      <a:bodyPr/>
      <a:lstStyle/>
      <a:p>
        <a:r>
          <a:rPr lang="pt-BR"/>
          <a:t>forças de direções e velocidades diferentes atuam sobre os íons metálicos concentrando-os em uma camada fina de alta densidade.</a:t>
        </a:r>
      </a:p>
    </p188:txBody>
  </p188:cm>
</p188:cmLst>
</file>

<file path=ppt/comments/modernComment_123_12CCEFC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C67EDA1-25B0-4852-A69A-DF332BC7D619}" authorId="{E60B5C66-DB3D-DB57-188F-38A214EE2541}" created="2026-05-17T05:02:54.20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15420618" sldId="291"/>
      <ac:spMk id="3" creationId="{2CF51546-9759-AF3C-DB32-D3E9632852C3}"/>
      <ac:txMk cp="0" len="1">
        <ac:context len="754" hash="2282439105"/>
      </ac:txMk>
    </ac:txMkLst>
    <p188:pos x="10229183" y="262055"/>
    <p188:txBody>
      <a:bodyPr/>
      <a:lstStyle/>
      <a:p>
        <a:r>
          <a:rPr lang="pt-BR"/>
          <a:t>Esses resultados reforçam a importância de análises estatísticas em períodos geomagneticamente perturbados para a compreensão dos mecanismos físicos que controlam a formação e a variabilidade das camadas E esporádicas.</a:t>
        </a:r>
      </a:p>
    </p188:txBody>
  </p188:cm>
</p188:cmLst>
</file>

<file path=ppt/comments/modernComment_125_286396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EC98E85-740A-4253-ADCB-6403715179F8}" authorId="{E60B5C66-DB3D-DB57-188F-38A214EE2541}" created="2026-05-19T20:43:06.930">
    <pc:sldMkLst xmlns:pc="http://schemas.microsoft.com/office/powerpoint/2013/main/command">
      <pc:docMk/>
      <pc:sldMk cId="677615290" sldId="293"/>
    </pc:sldMkLst>
    <p188:txBody>
      <a:bodyPr/>
      <a:lstStyle/>
      <a:p>
        <a:r>
          <a:rPr lang="pt-BR"/>
          <a:t>Gráfico esquerdo (Intensidade por ano):
Os eventos se concentram entre 2015 e 2017, coincidindo com o pico do ciclo solar 24. Tempestades moderadas (azul) dominam em todos os anos — isso é esperado, pois eventos moderados são estatisticamente mais frequentes. Tempestades fortes (vermelho) aparecem sobretudo em 2015 e 2016, e intensas (amarelo) são raras, aparecendo apenas em 2014 e 2016. De 2018 em diante há uma queda progressiva no número de eventos, reflexo da descida do ciclo solar rumo ao mínimo.
Gráfico direito (Driver por ano):
CIR (azul) domina na maioria dos anos, o que faz sentido físico — CIRs são mais frequentes durante períodos de atividade solar moderada a decrescente. ICMEs (amarelo) aparecem mais em 2014 e 2015, quando o ciclo solar estava mais ativo. SIRs (vermelho) têm presença consistente mas menor. Esse padrão é coerente com a literatura sobre a evolução dos drivers ao longo do ciclo solar.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04:21:40.8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04:21:45.9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155 56 24575,'25'1'0,"-1"1"0,40 10 0,24 2 0,-75-13 0,-5 0 0,-11-2 0,-26-3 0,-3-3 0,-260-57 0,272 56 0,20 8 0,0 0 0,0 0 0,0 0 0,0 1 0,0-1 0,0 0 0,0 0 0,1 0 0,-1 0 0,0 0 0,0 0 0,0 0 0,0 0 0,0 0 0,0 0 0,0 0 0,0 0 0,0 0 0,1 0 0,-1 0 0,0 0 0,0 0 0,0 0 0,0 0 0,0 0 0,0 0 0,0 0 0,0-1 0,0 1 0,0 0 0,1 0 0,-1 0 0,0 0 0,0 0 0,0 0 0,0 0 0,0 0 0,0 0 0,0 0 0,0 0 0,0 0 0,0 0 0,0-1 0,0 1 0,0 0 0,0 0 0,0 0 0,0 0 0,0 0 0,0 0 0,0 0 0,0 0 0,0 0 0,0-1 0,0 1 0,0 0 0,0 0 0,0 0 0,0 0 0,0 0 0,37 6 0,-8 0 0,0-1 0,1-1 0,-1-2 0,44-1 0,27 2 0,-95-3 0,0 1 0,0-1 0,0 1 0,0 0 0,0 0 0,0 1 0,0 0 0,0-1 0,8 6 0,-11-2-1365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04:21:53.2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479 497 24575,'1'4'0,"-1"1"0,1-1 0,0 1 0,0-1 0,1 0 0,-1 1 0,1-1 0,0 0 0,5 8 0,26 35 0,-21-32 0,-18-19 0,2 2 0,2 0 0,-1 0 0,0 0 0,0 0 0,1 0 0,-1-1 0,-2-2 0,5 4 0,0 1 0,-1 0 0,1-1 0,0 1 0,0 0 0,0-1 0,-1 1 0,1-1 0,0 1 0,0 0 0,0-1 0,0 1 0,0-1 0,0 1 0,0-1 0,0 1 0,0 0 0,0-1 0,0 1 0,0-1 0,0 1 0,1-1 0,-1 1 0,0 0 0,0-1 0,0 1 0,1-1 0,0 0 0,0 0 0,0 0 0,1 0 0,-1 0 0,0 0 0,1 0 0,-1 1 0,0-1 0,1 0 0,-1 1 0,1-1 0,1 1 0,1-1 0,1 0 0,-1 0 0,0 1 0,0-1 0,1 1 0,-1 1 0,0-1 0,0 0 0,1 1 0,-1 0 0,0 0 0,0 0 0,4 2 0,23 5 0,-31-8 0,1 0 0,-1 0 0,0 0 0,0 0 0,0 0 0,0 0 0,0 0 0,1 0 0,-1 0 0,0 0 0,0 0 0,0 0 0,0 0 0,0 0 0,0 0 0,1-1 0,-1 1 0,0 0 0,0 0 0,0 0 0,0 0 0,0 0 0,0 0 0,0 0 0,0 0 0,1-1 0,-1 1 0,0 0 0,0 0 0,0 0 0,0 0 0,0 0 0,0 0 0,0-1 0,0 1 0,0 0 0,0 0 0,0 0 0,0 0 0,0 0 0,0-1 0,0 1 0,0 0 0,0 0 0,0 0 0,0 0 0,0 0 0,0 0 0,0-1 0,-4-11 0,-8-8 0,-3-1 0,-20-24 0,32 42 0,1 0 0,-1 1 0,0-1 0,0 0 0,0 1 0,0 0 0,0-1 0,-1 1 0,1 1 0,-6-3 0,7 6 0,6 6 0,6 8 0,3-2 0,0-1 0,1 0 0,1-2 0,0 1 0,19 9 0,-16-10 0,-28-18 0,-30-19 0,-10 4 0,47 20 0,0 1 0,0 0 0,0 1 0,0-1 0,0 0 0,0 1 0,0 0 0,0 0 0,0 0 0,0 0 0,0 0 0,-1 1 0,1-1 0,0 1 0,-3 1 0,5-1 0,0 0 0,1 0 0,-1 0 0,1 0 0,-1 0 0,1 0 0,0 0 0,-1 0 0,1 0 0,0 0 0,0 0 0,0 0 0,-1 1 0,1-1 0,0 0 0,1 0 0,-1 0 0,0 0 0,0 0 0,0 0 0,1 0 0,-1 0 0,0 1 0,1-1 0,-1 0 0,1 0 0,0 0 0,-1-1 0,1 1 0,1 2 0,-2-3 0,1 1 0,-1 0 0,1-1 0,-1 1 0,0-1 0,1 1 0,0-1 0,-1 1 0,1-1 0,-1 1 0,1-1 0,0 1 0,-1-1 0,1 0 0,0 1 0,-1-1 0,1 0 0,0 0 0,1 1 0,-2-1 0,1-1 0,0 1 0,-1 0 0,1 0 0,-1-1 0,1 1 0,0-1 0,-1 1 0,1 0 0,-1-1 0,1 1 0,-1-1 0,0 1 0,1-1 0,-1 0 0,1 1 0,-1-1 0,0 1 0,0-1 0,1 0 0,-1 1 0,0-1 0,0 0 0,0 1 0,0-1 0,1 0 0,-1 0 0,2-16 0,-1 1 0,0-1 0,-1 1 0,0-1 0,-5-28 0,3 33 0,2 10 0,-1-1 0,1 0 0,0 0 0,0 0 0,0 1 0,0-1 0,0 0 0,1 0 0,0-2 0,0 4 0,-1 1 0,0-1 0,1 0 0,-1 1 0,1-1 0,-1 1 0,1-1 0,0 1 0,-1-1 0,1 1 0,-1-1 0,1 1 0,0 0 0,-1-1 0,1 1 0,0 0 0,0 0 0,-1-1 0,1 1 0,0 0 0,0 0 0,-1 0 0,1 0 0,0 0 0,0 0 0,-1 0 0,1 0 0,0 0 0,0 0 0,1 1 0,-30-7 0,21 4 0,-1 1 0,0-1 0,0 1 0,-11 0 0,17 1 0,1 0 0,0 1 0,0-1 0,0 0 0,0 0 0,0 1 0,0-1 0,0 1 0,0-1 0,0 1 0,0-1 0,0 1 0,0 0 0,0-1 0,1 1 0,-1 0 0,0 0 0,0 0 0,1 0 0,-1-1 0,0 1 0,1 0 0,-1 0 0,1 0 0,-1 0 0,1 0 0,0 1 0,-1-1 0,1 0 0,0 0 0,0 0 0,0 0 0,0 0 0,0 0 0,0 0 0,0 0 0,0 1 0,1 0 0,-1 3 0,1 0 0,0 0 0,0 0 0,1 0 0,-1 0 0,1 0 0,3 4 0,10 11 0,-13-17 0,1 0 0,0 0 0,-1 1 0,1-1 0,-1 0 0,0 1 0,0 0 0,0-1 0,-1 1 0,1 0 0,1 6 0,-4-10 0,0 0 0,0 1 0,1-1 0,-1 0 0,0 0 0,1 0 0,-1 0 0,0 0 0,0 0 0,1 0 0,-1-1 0,0 1 0,0 0 0,1 0 0,-1 0 0,0-1 0,1 1 0,-1 0 0,0-1 0,-4-2 0,15 3 0,11 5 0,-28-7 0,-39-12 0,-178-104 0,220 116 0,1 0 0,-1 1 0,0-1 0,1 1 0,-1 0 0,0 0 0,0 1 0,-5-1 0,8 1 0,0 0 0,1 0 0,-1 0 0,0 0 0,1 0 0,-1 0 0,0 0 0,1 0 0,-1 0 0,0 1 0,1-1 0,-1 0 0,0 1 0,1-1 0,-1 0 0,1 1 0,-1-1 0,1 1 0,-1-1 0,1 1 0,-1-1 0,1 1 0,-1-1 0,1 1 0,-1-1 0,1 1 0,0 0 0,0-1 0,-1 1 0,1-1 0,0 1 0,0 0 0,-1-1 0,1 1 0,0 0 0,0 0 0,0-1 0,0 1 0,0 0 0,0-1 0,0 1 0,0 0 0,1-1 0,-1 1 0,0 0 0,0-1 0,1 1 0,-1 0 0,0-1 0,1 1 0,0 0 0,0 4 0,1-1 0,1 0 0,-1 0 0,0 0 0,1 0 0,0-1 0,0 1 0,0-1 0,0 0 0,8 6 0,41 26 0,-32-23 0,-82-33 0,61 20 0,1 1 0,0 0 0,0 0 0,-1 0 0,1 0 0,0-1 0,-1 1 0,1 0 0,0 0 0,-1 0 0,1 0 0,0 0 0,0 0 0,-1 0 0,1 0 0,0 0 0,-1 0 0,1 0 0,0 0 0,-1 0 0,1 0 0,0 0 0,0 0 0,-1 0 0,1 1 0,0-1 0,-1 0 0,1 0 0,0 0 0,0 0 0,-1 1 0,1-1 0,0 0 0,0 0 0,0 0 0,-1 1 0,1-1 0,0 0 0,0 0 0,0 1 0,0-1 0,-1 0 0,1 1 0,0-1 0,0 1 0,9 14 0,22 15 0,-17-19 0,1-2 0,-1 0 0,2 0 0,-1-2 0,26 10 0,-76-32 0,-5-3 0,-81-24 0,98 37 0,16 4 0,0 0 0,0 0 0,1-1 0,-1 0 0,0-1 0,0 1 0,-8-6 0,39 8 0,0 6 0,-1 2 0,0 0 0,-1 1 0,0 1 0,27 18 0,-18-12 0,49 21 0,-59-29 0,-23-9 0,-36-11 0,-207-52 0,230 60 0,54 11 0,0-1 0,61 0 0,-43-2 0,-80-9 0,0-1 0,1-1 0,-36-17 0,-5 0 0,33 13 0,20 4 0,19 5 0,18 3 0,103 21 0,-124-19 0,-18-3 0,-22-2 0,11-2 0,8 2 0,0-1 0,-20-6 0,35 9 0,0 0 0,0 0 0,0 0 0,0 0 0,0 0 0,0 0 0,0 0 0,0 0 0,0 0 0,0-1 0,0 1 0,0 0 0,0 0 0,0 0 0,0 0 0,1 0 0,-1 0 0,0 0 0,0 0 0,0 0 0,0 0 0,0 0 0,0 0 0,0 0 0,0 0 0,0 0 0,0 0 0,0-1 0,0 1 0,-1 0 0,1 0 0,0 0 0,0 0 0,0 0 0,0 0 0,0 0 0,0 0 0,0 0 0,0 0 0,0 0 0,0 0 0,0 0 0,0 0 0,0 0 0,0 0 0,0 0 0,11-1 0,17 1 0,99 27 0,-16-2 0,13 1 0,-194-64 0,49 27 0,21 11 0,0 0 0,0 0 0,0 0 0,0 0 0,0-1 0,0 1 0,0 0 0,0 0 0,0 0 0,0 0 0,0-1 0,0 1 0,0 0 0,0 0 0,0 0 0,0 0 0,0-1 0,0 1 0,0 0 0,0 0 0,0 0 0,1 0 0,-1-1 0,0 1 0,0 0 0,0 0 0,0 0 0,0 0 0,0 0 0,0 0 0,1 0 0,-1-1 0,0 1 0,0 0 0,0 0 0,0 0 0,1 0 0,-1 0 0,0 0 0,0 0 0,0 0 0,0 0 0,1 0 0,-1 0 0,0 0 0,0 0 0,0 0 0,0 0 0,1 0 0,-1 0 0,0 0 0,43-2 0,-33 3 0,13 0 0,40 7 0,-44-4 0,0-1 0,37 0 0,-55-3 0,0 0 0,-1 0 0,1 0 0,-1 0 0,1 0 0,0 0 0,-1 0 0,1 0 0,-1 0 0,1 0 0,0 0 0,-1 0 0,1-1 0,-1 1 0,1 0 0,0 0 0,-1-1 0,1 1 0,-1 0 0,1-1 0,-1 1 0,1 0 0,-1-1 0,0 1 0,1-1 0,-1 1 0,1-1 0,-1 1 0,0-1 0,1 1 0,-1-1 0,0 1 0,0-1 0,1-1 0,-2 1 0,1-1 0,0 1 0,-1-1 0,1 1 0,-1-1 0,0 1 0,1-1 0,-1 1 0,0-1 0,0 1 0,0 0 0,-2-2 0,-36-34 0,-58-36 0,99 74 0,-1 0 0,0 0 0,0 0 0,1 1 0,-1-1 0,0 0 0,0 1 0,0-1 0,0 1 0,0-1 0,-1 1 0,1-1 0,0 1 0,-1-1 0,1 1 0,-1 0 0,0-1 0,1 1 0,-1 0 0,0-1 0,0 1 0,0 0 0,0-1 0,0 1 0,0 0 0,-1 0 0,1-1 0,-1 3 0,0-3 0,0 0 0,0 1 0,-1-1 0,1 0 0,0 0 0,0 0 0,-1 0 0,1 0 0,-1 0 0,1 0 0,-1 0 0,1 0 0,-1-1 0,1 1 0,-1-1 0,0 1 0,1-1 0,-1 0 0,0 1 0,1-1 0,-1 0 0,0 0 0,1 0 0,-1 0 0,0-1 0,1 1 0,-1 0 0,0-1 0,-1 0 0,-1 0 0,-1-1 0,1 0 0,0 0 0,0 0 0,0 0 0,0-1 0,-6-5 0,7 6 0,0-1 0,-1 1 0,1 0 0,0 0 0,-1 0 0,1 0 0,-1 1 0,1 0 0,-7-2 0,10 3 0,0 0 0,0 0 0,0 0 0,-1 0 0,1 1 0,0-1 0,0 0 0,0 0 0,0 0 0,-1 1 0,1-1 0,0 0 0,0 0 0,0 0 0,0 1 0,0-1 0,0 0 0,0 0 0,0 1 0,-1-1 0,1 0 0,0 0 0,0 1 0,0-1 0,0 0 0,0 0 0,0 1 0,0-1 0,1 0 0,-1 0 0,0 1 0,0-1 0,0 0 0,0 0 0,0 1 0,0-1 0,0 0 0,0 0 0,1 0 0,-1 1 0,0-1 0,0 0 0,0 0 0,0 0 0,1 0 0,-1 1 0,0-1 0,0 0 0,1 0 0,-1 0 0,0 0 0,0 0 0,11 15 0,0-4 0,0-1 0,1 0 0,0-1 0,1 0 0,14 7 0,42 20 0,-111-47 0,-46-5 0,85 15 0,0 1 0,0-1 0,0 1 0,0 0 0,0 1 0,0-1 0,0 0 0,0 1 0,1-1 0,-1 1 0,0 0 0,0 0 0,0 0 0,1 0 0,-1 1 0,1-1 0,-1 1 0,1 0 0,0-1 0,-1 1 0,1 0 0,0 0 0,0 0 0,0 1 0,1-1 0,-1 0 0,0 1 0,1-1 0,0 1 0,-2 4 0,0 2 0,0-1 0,1 1 0,1 0 0,-1 0 0,2 0 0,-1 0 0,1 0 0,2 14 0,1-59 0,-1 23 0,-1 0 0,0-1 0,0 1 0,-4-25 0,3 35 0,0 0 0,-1 0 0,0 0 0,0 0 0,0 0 0,0 0 0,0 0 0,-1 1 0,1-1 0,-1 0 0,1 1 0,-1-1 0,0 1 0,0-1 0,0 1 0,-1 0 0,1 0 0,0 0 0,-1 0 0,1 1 0,-1-1 0,0 1 0,0-1 0,1 1 0,-1 0 0,0 0 0,-5-1 0,-18-1 0,1 0 0,-1 2 0,0 0 0,-31 5 0,32-2 0,-1-1 0,0-1 0,0-1 0,-35-6 0,29-2 0,25 4 0,23 2 0,125 2 0,7 0 0,-146 1 0,0 0 0,0 0 0,-1 0 0,1 0 0,0-1 0,0 1 0,0-1 0,0 1 0,0-1 0,-1 0 0,1 1 0,0-1 0,-1 0 0,1 0 0,0 0 0,-1 0 0,1-1 0,-1 1 0,0 0 0,1-1 0,0-1 0,-1 0 0,0 0 0,0 0 0,0 0 0,-1 0 0,1 0 0,-1 0 0,0 0 0,0 0 0,0 0 0,0 0 0,-1-1 0,0-2 0,0-4 0,1 0 0,0 1 0,1-1 0,0 1 0,1-1 0,0 1 0,0-1 0,1 1 0,0 0 0,1 0 0,-1 0 0,2 1 0,-1-1 0,2 1 0,-1 0 0,11-12 0,-1 3 0,1 0 0,0 1 0,0 2 0,2-1 0,0 2 0,23-13 0,-30 19 30,0 1 0,1 1 0,17-6 0,-26 9-108,0 1 0,0 1 0,0-1-1,0 0 1,0 1 0,1 0 0,-1 0 0,0 0 0,0 0-1,0 0 1,1 0 0,-1 1 0,0 0 0,0-1 0,0 1-1,0 0 1,0 1 0,4 1 0,7 10-6748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04:22:04.4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04:24:09.1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363 199 24575,'-4'2'0,"1"0"0,0 0 0,0 0 0,1 0 0,-1 1 0,0 0 0,1-1 0,-1 1 0,1 0 0,0 0 0,0 0 0,0 1 0,-1 4 0,-4 3 0,-8 14 0,-21 51 0,23-48 0,13-28 0,0 0 0,0 0 0,0 1 0,0-1 0,0 0 0,0 0 0,0 0 0,0 1 0,0-1 0,0 0 0,0 0 0,0 0 0,0 0 0,-1 1 0,1-1 0,0 0 0,0 0 0,0 0 0,0 0 0,0 0 0,-1 1 0,1-1 0,0 0 0,0 0 0,0 0 0,0 0 0,-1 0 0,1 0 0,0 0 0,0 0 0,0 0 0,0 0 0,-1 0 0,1 0 0,0 0 0,0 0 0,0 0 0,-1 0 0,1 0 0,0 0 0,0 0 0,0 0 0,-1 0 0,1 0 0,0 0 0,0 0 0,0 0 0,0 0 0,-1 0 0,1-1 0,0 1 0,0 0 0,0 0 0,0 0 0,0 0 0,-1 0 0,1 0 0,0-1 0,0 1 0,0 0 0,0 0 0,0 0 0,0-1 0,0 1 0,0 0 0,0 0 0,0 0 0,-1-1 0,-7-24 0,-3-34 0,6 17 0,2-57 0,0-5 0,3 101 0,0 0 0,0 1 0,-1-1 0,1 0 0,-1 1 0,0-1 0,0 0 0,0 1 0,0-1 0,0 1 0,0-1 0,-1 1 0,1 0 0,-4-3 0,4 3 0,0 1 0,-1 0 0,1 0 0,-1 1 0,1-1 0,-1 0 0,1 0 0,-1 1 0,1-1 0,-1 1 0,0-1 0,1 1 0,-1 0 0,0-1 0,0 1 0,1 0 0,-4 1 0,-1 0 0,1 0 0,-1 1 0,0-1 0,1 1 0,-1 1 0,1-1 0,0 1 0,0 0 0,0 0 0,0 1 0,-7 5 0,-8 9 0,0 0 0,1 2 0,-19 25 0,49-89-1365,-2 19-5461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04:24:15.4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324 775 24575,'3'-1'0,"1"0"0,-1 0 0,1 0 0,-1 0 0,0 0 0,1-1 0,-1 1 0,0-1 0,0 0 0,0 0 0,0 0 0,0 0 0,-1-1 0,1 1 0,-1-1 0,1 1 0,-1-1 0,2-4 0,8-9 0,18-36 0,-23 40 0,1-6 0,0-1 0,-1 0 0,-1 0 0,6-32 0,-1 6 0,-11 44 0,0 1 0,0-1 0,0 1 0,0-1 0,0 1 0,0-1 0,0 1 0,0-1 0,1 1 0,-1-1 0,0 1 0,0 0 0,0-1 0,1 1 0,-1-1 0,0 1 0,1 0 0,-1-1 0,0 1 0,1 0 0,-1-1 0,1 1 0,-1 0 0,0-1 0,1 1 0,-1 0 0,1 0 0,0-1 0,10 11 0,10 33 0,-16-31 0,-3-7 0,18 39 0,2-1 0,1-1 0,50 65 0,-70-103 0,0 0 0,0 0 0,1-1 0,0 0 0,0 1 0,0-1 0,0-1 0,0 1 0,0-1 0,1 1 0,-1-1 0,1 0 0,0-1 0,0 1 0,-1-1 0,1 0 0,0 0 0,0-1 0,7 1 0,-6-2 0,0 0 0,-1 0 0,1 0 0,-1-1 0,1 0 0,-1 0 0,0 0 0,0-1 0,0 0 0,0 0 0,0 0 0,-1 0 0,1-1 0,-1 0 0,0 0 0,6-7 0,0-2 0,0 0 0,-1-1 0,0 0 0,-1-1 0,-1 0 0,0 0 0,-1-1 0,0 1 0,-2-1 0,5-28 0,-9 46 0,0 0 0,-1 1 0,1-1 0,-1 0 0,0 1 0,1-1 0,-1 0 0,0 0 0,0 0 0,-1 1 0,1-1 0,0-1 0,-1 1 0,1 0 0,-1 0 0,0 0 0,1-1 0,-1 1 0,0-1 0,0 1 0,0-1 0,0 0 0,0 0 0,0 0 0,-1 0 0,1 0 0,0 0 0,0-1 0,-1 1 0,-2 0 0,-8 1 0,-1-1 0,0 0 0,1 0 0,-16-3 0,28 2 0,-98-10 0,0-5 0,-153-43 0,166 36 0,25 5 0,117 45 0,29 12 0,-76-36 0,-1-1 0,1-1 0,0 0 0,0 0 0,0 0 0,0-1 0,16 0 0,-23-1 0,-1-1 0,1 1 0,0 0 0,0-1 0,-1 1 0,1-1 0,0 0 0,-1 1 0,1-1 0,-1 0 0,1 0 0,-1 0 0,1 0 0,-1 0 0,0-1 0,1 1 0,-1 0 0,0-1 0,2-1 0,-1-1 0,0 0 0,0 0 0,0 0 0,-1 0 0,1 0 0,-1 0 0,1-9 0,0 5 0,-2 0 0,1 0 0,-1-1 0,0 1 0,-1 0 0,0 0 0,0 0 0,-4-11 0,4 17 0,-1-1 0,1 1 0,-1 0 0,0-1 0,1 1 0,-1 0 0,0 0 0,0 0 0,-1 0 0,1 0 0,0 1 0,-1-1 0,1 1 0,-1-1 0,1 1 0,-1 0 0,0 0 0,1 0 0,-1 0 0,0 1 0,0-1 0,0 1 0,-4 0 0,-11-2 0,1 2 0,-32 3 0,22-2 0,-3 0 0,1-2 0,-1-1 0,-30-7 0,48 7 0,0-1 0,0 0 0,1-1 0,-1 0 0,1-1 0,0 0 0,0-1 0,0 0 0,-18-15 0,28 21 0,1 0 0,0 0 0,0 0 0,0 0 0,0 0 0,0 0 0,0 0 0,0 0 0,-1 0 0,1 0 0,0 0 0,0 0 0,0-1 0,0 1 0,0 0 0,0 0 0,0 0 0,0 0 0,0 0 0,-1 0 0,1 0 0,0 0 0,0-1 0,0 1 0,0 0 0,0 0 0,0 0 0,0 0 0,0 0 0,0 0 0,0-1 0,0 1 0,0 0 0,0 0 0,0 0 0,0 0 0,0 0 0,0 0 0,0-1 0,0 1 0,0 0 0,0 0 0,0 0 0,0 0 0,0 0 0,0 0 0,1 0 0,-1-1 0,0 1 0,0 0 0,0 0 0,0 0 0,0 0 0,0 0 0,0 0 0,0 0 0,0 0 0,1 0 0,-1 0 0,0 0 0,0 0 0,0 0 0,0-1 0,0 1 0,0 0 0,1 0 0,-1 0 0,0 0 0,0 0 0,16 1 0,21 5 0,-24-2 0,1 1 0,-1 0 0,0 1 0,0 0 0,0 1 0,12 9 0,-24-15 0,0 0 0,1 0 0,-1 0 0,0 0 0,1 0 0,-1 0 0,1-1 0,-1 1 0,1-1 0,-1 1 0,1-1 0,0 1 0,-1-1 0,1 0 0,0 0 0,2 0 0,-4 0 0,0-1 0,1 1 0,-1-1 0,0 1 0,1 0 0,-1-1 0,0 1 0,1-1 0,-1 1 0,0-1 0,0 0 0,1 1 0,-1-1 0,0 1 0,0-1 0,0 1 0,0-1 0,0 1 0,0-1 0,0 0 0,0 1 0,0-1 0,0 1 0,0-1 0,0 1 0,-1-1 0,1 1 0,0-1 0,-1 0 0,-2-8 0,0 1 0,-1-1 0,0 1 0,-7-12 0,-17-19 0,-2 1 0,-40-40 0,69 76 0,0 1 0,0 0 0,0-1 0,0 1 0,-1 0 0,1 0 0,0 0 0,0 0 0,-1 0 0,1 0 0,-1 1 0,1-1 0,-1 0 0,1 1 0,-1-1 0,0 1 0,1-1 0,-1 1 0,1 0 0,-4-1 0,4 2 0,0 0 0,0 0 0,0 0 0,0 0 0,0 0 0,0 0 0,1 0 0,-1 0 0,0 0 0,1 0 0,-1 0 0,1 1 0,-1-1 0,1 0 0,0 0 0,-1 1 0,1-1 0,0 0 0,0 1 0,0-1 0,0 0 0,0 0 0,0 1 0,0-1 0,1 2 0,1 9 0,1-1 0,0 1 0,1-1 0,0 1 0,10 17 0,-13-28 0,-10-12 0,1-1 0,1-1 0,0 1 0,-5-14 0,12 25 0,0 1 0,-1-1 0,1 1 0,0-1 0,-1 1 0,1-1 0,0 1 0,0-1 0,0 1 0,0-1 0,-1 0 0,1 1 0,0-1 0,0 1 0,0-1 0,0 1 0,0-1 0,0 0 0,1 1 0,-1-1 0,0 1 0,0-1 0,0 1 0,0-1 0,1 0 0,-1 1 0,1-1 0,13 4 0,21 23 0,-34-25 0,25 23 0,-15-14 0,0 0 0,0-1 0,13 8 0,-23-17 0,0 1 0,0-1 0,-1 1 0,1-1 0,0 0 0,0 1 0,0-1 0,0 0 0,0 1 0,0-1 0,0 0 0,-1 0 0,1 0 0,0 0 0,0 0 0,0 0 0,0 0 0,0 0 0,0 0 0,0 0 0,0-1 0,0 1 0,0 0 0,-1 0 0,1-1 0,2 0 0,-2-1 0,0 1 0,0 0 0,0-1 0,0 1 0,0-1 0,0 1 0,0-1 0,0 0 0,0 0 0,-1 1 0,1-1 0,0-3 0,1-8 0,-1 1 0,0-1 0,-1-15 0,0 21 0,-5-179 0,5 185 0,0 0 0,0 0 0,0 1 0,0-1 0,0 0 0,0 0 0,0 0 0,0 0 0,1 0 0,-1 1 0,0-1 0,0 0 0,1 0 0,-1 0 0,0 1 0,1-1 0,-1 0 0,1 1 0,-1-1 0,1 0 0,0 0 0,0 1 0,-1 0 0,1 0 0,0 0 0,-1 0 0,1 1 0,-1-1 0,1 0 0,-1 0 0,1 1 0,-1-1 0,1 0 0,-1 1 0,1-1 0,-1 0 0,1 1 0,-1-1 0,1 1 0,-1-1 0,0 1 0,1-1 0,-1 1 0,0 0 0,23 40 0,-21-38 0,124 286 0,-120-277-84,-1-14 233,0-24-728,-4 19-272,3-15-5975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04:24:29.7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309 754 24575,'0'8'0,"0"22"0,4 33 0,-3-54 0,1 0 0,-1-1 0,2 1 0,-1-1 0,1 1 0,1-1 0,0 0 0,5 10 0,-9-18 0,0 0 0,0 0 0,0 0 0,0 0 0,0 0 0,0 0 0,1 1 0,-1-1 0,0 0 0,0 0 0,0 0 0,0 0 0,0 0 0,0 0 0,0 1 0,0-1 0,0 0 0,0 0 0,1 0 0,-1 0 0,0 0 0,0 0 0,0 0 0,0 0 0,0 0 0,0 0 0,1 0 0,-1 0 0,0 0 0,0 0 0,0 0 0,0 0 0,0 0 0,1 0 0,-1 0 0,0 0 0,0 0 0,0 0 0,0 0 0,0 0 0,0 0 0,1 0 0,-1 0 0,0 0 0,0 0 0,0 0 0,0 0 0,0 0 0,0 0 0,1 0 0,-1-1 0,0 1 0,0 0 0,0 0 0,0 0 0,0 0 0,0 0 0,0 0 0,4-13 0,-2-17 0,-1 4 0,-1-1 0,-2 1 0,-1 0 0,-1 0 0,-13-47 0,16 71 0,0-1 0,0 1 0,0-1 0,0 0 0,0 1 0,-1 0 0,1-1 0,-1 1 0,0 0 0,0 0 0,0 0 0,0 0 0,0 0 0,0 0 0,0 0 0,-1 1 0,1-1 0,0 1 0,-1 0 0,1 0 0,-1 0 0,-5-2 0,6 3 0,0 0 0,-1 0 0,1 0 0,0 1 0,-1-1 0,1 0 0,0 1 0,0 0 0,0-1 0,0 1 0,-1 0 0,1 0 0,0 0 0,0 0 0,1 1 0,-1-1 0,0 0 0,0 1 0,1 0 0,-1-1 0,0 1 0,1 0 0,0 0 0,-1 0 0,1-1 0,0 2 0,-1 2 0,1-3 0,0 1 0,-1-1 0,1 0 0,0 1 0,-1-1 0,1 0 0,-1 0 0,0 0 0,0 0 0,0 0 0,0-1 0,0 1 0,0-1 0,-3 3 0,5-4 0,-1 0 0,0 0 0,1 0 0,-1 0 0,0 0 0,0 0 0,1 0 0,-1 0 0,0 0 0,1 0 0,-1 0 0,0 0 0,1-1 0,-1 1 0,1 0 0,-1 0 0,0-1 0,1 1 0,-1 0 0,1-1 0,-2 0 0,-12-20 0,0-15 0,1-1 0,-14-70 0,19 65 0,-3 1 0,-18-47 0,25 79 0,-3-9 0,-2-1 0,0 1 0,-12-17 0,21 34 0,0 1 0,0 0 0,0-1 0,-1 1 0,1 0 0,0 0 0,0-1 0,0 1 0,0 0 0,0 0 0,-1-1 0,1 1 0,0 0 0,0 0 0,0-1 0,-1 1 0,1 0 0,0 0 0,0 0 0,-1 0 0,1-1 0,0 1 0,0 0 0,-1 0 0,1 0 0,0 0 0,0 0 0,-1 0 0,1 0 0,0 0 0,-1 0 0,1 0 0,0 0 0,-1 0 0,1 0 0,0 0 0,0 0 0,-1 0 0,1 0 0,0 0 0,-1 0 0,1 0 0,0 0 0,0 1 0,-1-1 0,1 0 0,0 0 0,-1 1 0,-4 18 0,4-14 0,1 1 0,0 0 0,0-1 0,0 1 0,2 9 0,-1-16 0,0 1 0,0-1 0,0 0 0,0 0 0,0 1 0,0-1 0,0 0 0,-1 0 0,1 0 0,0 0 0,-1 0 0,1 0 0,0 0 0,-1 0 0,1 0 0,-1-2 0,7-17 0,0 0 0,-2-1 0,-1 1 0,4-37 0,-5-86 0,-2 146 0,0 0 0,-1 0 0,1 0 0,1-1 0,-1 1 0,0-1 0,1 1 0,-1-1 0,1 1 0,0-1 0,0 0 0,0 0 0,0 1 0,0-2 0,0 1 0,4 2 0,56 39 0,-9-7 0,-21-9 0,0 1 0,-2 1 0,37 46 0,-59-66 0,-1 1 0,0 0 0,-1 0 0,0 1 0,0-1 0,-1 1 0,0 1 0,-1-1 0,-1 1 0,0-1 0,0 1 0,-1 0 0,-1 0 0,0 0 0,0 0 0,-3 18 0,-2-108 0,3 32 0,1 41 0,0 30 0,1-21 0,0 1 0,0-1 0,0 0 0,0 0 0,0 1 0,1-1 0,0 0 0,0-1 0,0 1 0,0 0 0,0 0 0,1-1 0,0 0 0,3 4 0,15 22 0,-14-16 0,17 27 0,-2 1 0,27 72 0,-47-188 0,-2 70 0,0 1 0,1 0 0,-1 0 0,1 0 0,0-1 0,0 1 0,1 0 0,-1 0 0,1 0 0,0 0 0,0 1 0,3-6 0,-11 8 0,-1 1 0,1 0 0,-1 0 0,1 0 0,-8 2 0,-32 0 0,35-3 0,1 1 0,-1 0 0,0 1 0,1 1 0,-1-1 0,1 2 0,-11 2 0,20-3 0,-1-1 0,1 0 0,-1 0 0,1 1 0,-1-1 0,1 1 0,0 0 0,0-1 0,-1 1 0,1 0 0,0-1 0,1 1 0,-1 0 0,0 0 0,1 0 0,-1 0 0,1 0 0,-1 0 0,1 0 0,0 0 0,0 0 0,0 4 0,0-1 0,0 0 0,0 0 0,1 0 0,0 0 0,0 0 0,0 0 0,4 9 0,-5-14 0,0 1 0,0-1 0,0 0 0,0 1 0,0-1 0,0 0 0,1 1 0,-1-1 0,0 0 0,0 1 0,0-1 0,0 0 0,1 0 0,-1 1 0,0-1 0,0 0 0,0 0 0,1 1 0,-1-1 0,0 0 0,0 0 0,1 0 0,-1 1 0,0-1 0,1 0 0,-1 0 0,0 0 0,1 0 0,-1 0 0,0 0 0,1 1 0,-1-1 0,0 0 0,1 0 0,-1 0 0,0 0 0,1 0 0,-1 0 0,0-1 0,1 1 0,0 0 0,6-15 0,0-21 0,-4 19 0,-4 42 0,0-5 0,1-9 0,0 24 0,0-33 0,0-23 0,-1-3 0,2 0 0,0 0 0,2 0 0,6-26 0,-9 49 0,0 1 0,0-1 0,0 0 0,0 1 0,0-1 0,0 1 0,1-1 0,-1 1 0,0-1 0,0 1 0,0-1 0,0 0 0,1 1 0,-1-1 0,0 1 0,1 0 0,-1-1 0,0 1 0,1-1 0,-1 1 0,1-1 0,-1 1 0,0 0 0,1-1 0,-1 1 0,1 0 0,-1-1 0,1 1 0,0 0 0,0 0 0,7 14 0,0 31 0,-2 152 0,-6-203 0,0-1 0,0 0 0,0 0 0,1 0 0,0 1 0,0-1 0,3-8 0,-3 13 0,-1 1 0,1 0 0,0-1 0,-1 1 0,1 0 0,0 0 0,0 0 0,0 0 0,0 0 0,0 0 0,0 0 0,0 0 0,0 0 0,0 0 0,1 0 0,-1 1 0,0-1 0,0 0 0,1 1 0,-1-1 0,0 1 0,1 0 0,-1-1 0,1 1 0,-1 0 0,0 0 0,1 0 0,-1 0 0,1 0 0,-1 0 0,1 0 0,-1 1 0,0-1 0,1 0 0,-1 1 0,0-1 0,1 1 0,-1-1 0,0 1 0,1 0 0,-1 0 0,1 0 0,11 7 0,-1-1 0,1 2 0,-2 0 0,1 0 0,-1 1 0,16 19 0,54 72 0,-72-87 0,-6-10 0,0 1 0,1 0 0,-1-1 0,1 0 0,8 7 0,-12-11 0,0 0 0,0 0 0,0 0 0,0 1 0,1-1 0,-1 0 0,0 0 0,0 0 0,0 0 0,0 0 0,1 0 0,-1 0 0,0 0 0,0 0 0,0 0 0,1 0 0,-1 0 0,0 0 0,0 0 0,0 0 0,1 0 0,-1 0 0,0 0 0,0 0 0,0 0 0,1 0 0,-1 0 0,0 0 0,0-1 0,0 1 0,0 0 0,1 0 0,-1 0 0,0 0 0,0 0 0,0 0 0,0-1 0,0 1 0,1 0 0,-1 0 0,0 0 0,0-1 0,3-11 0,-2-16 0,-1 28 0,1-8 0,-2 1 0,1 0 0,-1 0 0,0 0 0,0 0 0,-4-8 0,5 14 0,-1-1 0,0 0 0,0 1 0,0-1 0,0 1 0,0-1 0,0 1 0,0-1 0,-1 1 0,1 0 0,0-1 0,-1 1 0,1 0 0,-1 0 0,0 0 0,1 0 0,-1 0 0,0 1 0,1-1 0,-1 0 0,0 1 0,0-1 0,0 1 0,1 0 0,-1 0 0,0 0 0,0-1 0,-3 2 0,1-1 0,0 0 0,0 0 0,0 0 0,0 0 0,0-1 0,0 1 0,0-1 0,0 0 0,0 0 0,1-1 0,-1 1 0,0-1 0,1 0 0,-5-3 0,5 3 0,1-1 0,0 1 0,-1-1 0,1 0 0,0 0 0,1 0 0,-1 0 0,1 0 0,-1 0 0,1 0 0,0 0 0,0-1 0,0 1 0,0 0 0,1-1 0,-1-5 0,7 26 0,-1 1 0,6 35 0,-13-50 0,-5-7 0,-13-13 0,1 1 0,-28-5 0,40 19 0,0 0 0,0-1 0,-1-1 0,2 1 0,-1-1 0,0 0 0,1 0 0,-11-10 0,11 7 0,0 0 0,0-1 0,1 0 0,0 0 0,-8-17 0,12 22 0,0 1 0,0-1 0,0 0 0,0 0 0,0 0 0,1 0 0,0 0 0,0 0 0,-1 0 0,2-4 0,-1 5 0,0 1 0,1 0 0,-1-1 0,1 1 0,-1 0 0,1 0 0,0 0 0,-1 0 0,1-1 0,0 1 0,0 0 0,0 0 0,-1 0 0,1 1 0,0-1 0,0 0 0,1 0 0,-1 0 0,0 1 0,0-1 0,0 1 0,0-1 0,1 1 0,1-1 0,0 0 0,1 0 0,-1 1 0,1 0 0,0 0 0,-1 0 0,1 0 0,0 0 0,-1 1 0,1 0 0,4 1 0,42 15 0,-22-7 0,-5-1 0,-18-7 0,0 0 0,0 0 0,0 0 0,0 0 0,1-1 0,-1 0 0,0 0 0,1 0 0,-1-1 0,7 0 0,-12 0 0,1 0 0,-1 0 0,1-1 0,-1 1 0,0 0 0,1 0 0,-1-1 0,0 1 0,1 0 0,-1-1 0,0 1 0,1-1 0,-1 1 0,0 0 0,1-1 0,-1 1 0,0-1 0,0 1 0,0-1 0,1 1 0,-1-1 0,0 1 0,0-1 0,0 1 0,0-1 0,0 1 0,0-1 0,0 1 0,0-1 0,0 1 0,0-1 0,0 1 0,0 0 0,-1-1 0,1 1 0,0-1 0,0 1 0,0-1 0,-1 1 0,1-1 0,0 1 0,0 0 0,-1-1 0,1 1 0,0-1 0,-1 1 0,1 0 0,-1-1 0,-18-19 0,12 16 0,0-1 0,0 1 0,-1 1 0,1-1 0,-1 1 0,-15-4 0,21 7 0,0 0 0,0-1 0,0 1 0,0 0 0,0 0 0,0 1 0,0-1 0,1 0 0,-1 1 0,0-1 0,0 1 0,0-1 0,0 1 0,0 0 0,1 0 0,-1 0 0,0 0 0,1 0 0,-1 0 0,1 0 0,-1 1 0,1-1 0,-1 0 0,1 1 0,0-1 0,0 1 0,0 0 0,0-1 0,0 1 0,0 0 0,0 0 0,0-1 0,1 1 0,-1 3 0,-3 7 0,1 0 0,1 0 0,0 0 0,1 0 0,0 14 0,1-21 0,0-1 0,1 1 0,-1-1 0,1 1 0,0-1 0,1 1 0,2 6 0,-3-9 0,0-1 0,0 1 0,0-1 0,0 1 0,0-1 0,0 1 0,0-1 0,1 0 0,-1 0 0,0 1 0,1-1 0,-1 0 0,1 0 0,-1-1 0,1 1 0,0 0 0,-1 0 0,1-1 0,2 1 0,-3-1 0,-1 0 0,0 0 0,1 0 0,-1 0 0,0 0 0,1-1 0,-1 1 0,0 0 0,1 0 0,-1-1 0,0 1 0,0 0 0,1 0 0,-1-1 0,0 1 0,0 0 0,1-1 0,-1 1 0,0 0 0,0-1 0,0 1 0,0 0 0,0-1 0,0 1 0,0-1 0,1 1 0,-1 0 0,0-1 0,0 1 0,0 0 0,0-1 0,-1 1 0,1-1 0,0 1 0,0 0 0,0-1 0,0 0 0,0 0 0,0-1 0,0 1 0,0 0 0,0 0 0,0 0 0,0 0 0,1 0 0,-1 0 0,0 0 0,1 0 0,-1 0 0,1 0 0,-1 0 0,1 0 0,0 0 0,-1 0 0,2-1 0,4 0 0,0-1 0,0 1 0,0 0 0,0 1 0,0-1 0,0 1 0,1 0 0,-1 1 0,1 0 0,10 1 0,21-3 0,-28-2 0,-17-2 0,-22-5 0,27 10 0,-48-9 0,38 8 0,1 0 0,-1-1 0,-10-4 0,21 7 0,1 0 0,0 0 0,0 0 0,-1 0 0,1 0 0,0 0 0,0 0 0,-1 0 0,1 0 0,0 0 0,0 0 0,-1-1 0,1 1 0,0 0 0,0 0 0,-1 0 0,1 0 0,0-1 0,0 1 0,0 0 0,0 0 0,-1 0 0,1-1 0,0 1 0,0 0 0,0 0 0,0-1 0,0 1 0,0 0 0,0 0 0,-1-1 0,1 1 0,0 0 0,0 0 0,0-1 0,9-4 0,17 0 0,66 3-1365,-71 2-5461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19:23:52.9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1842 260 24575,'-13'1'0,"0"2"0,0 0 0,0 1 0,0 0 0,0 1 0,1 0 0,0 1 0,0 0 0,0 1 0,-15 13 0,-1-3 0,-44 26 0,-133 88 0,174-108 0,1 2 0,1 0 0,1 3 0,-33 40 0,-40 74 0,91-125 0,0 1 0,2-1 0,0 1 0,1 1 0,1-1 0,-7 39 0,12-56 0,1 1 0,-1-1 0,1 1 0,0 0 0,0-1 0,0 1 0,0 0 0,0-1 0,0 1 0,0 0 0,0-1 0,1 1 0,-1 0 0,0-1 0,1 1 0,0-1 0,-1 1 0,1-1 0,0 1 0,0-1 0,0 0 0,0 1 0,0-1 0,0 0 0,2 2 0,-1-2 0,1 0 0,-1 0 0,0-1 0,1 1 0,-1-1 0,0 1 0,1-1 0,-1 0 0,1 0 0,-1 0 0,0-1 0,1 1 0,-1 0 0,0-1 0,5-1 0,12-5 0,-1 0 0,0-2 0,24-14 0,-40 22 0,124-82 0,-4-5 0,115-109 0,-197 163 0,13-10 0,-2-2 0,-2-3 0,-2-2 0,73-102 0,-110 136 0,0-1 0,-1-1 0,-2 1 0,10-31 0,-17 48 0,0 1 0,1-1 0,-1 1 0,0-1 0,0 1 0,1-1 0,-1 1 0,0-1 0,0 1 0,0-1 0,0 1 0,1-1 0,-1 1 0,0-1 0,0 1 0,0-1 0,0 1 0,0-1 0,0 0 0,-1 1 0,1-1 0,0 1 0,0-1 0,0 1 0,0-1 0,-1 1 0,1-1 0,0 1 0,0-1 0,-1 1 0,1-1 0,0 1 0,-1 0 0,1-1 0,-1 1 0,1 0 0,-1-1 0,1 1 0,0 0 0,-1-1 0,1 1 0,-1 0 0,1 0 0,-1-1 0,0 1 0,-35 7 0,34-7 0,-339 125 0,215-75 0,-538 202-523,-12-47 0,529-175 523,143-30 0,-58 4 0,61-4 0,0 0 0,0 0 0,0 0 0,0 0 0,0 0 0,0 0 0,0 0 0,0-1 0,0 1 0,0 0 0,0-1 0,0 1 0,0-1 0,0 1 0,0-1 0,0 1 0,0-1 0,1 0 0,-1 1 0,0-1 0,0 0 0,1 0 0,-1 1 0,0-1 0,1 0 0,-1 0 0,1 0 0,-1 0 0,1 0 0,0 0 0,-1 0 0,1 0 0,0 0 0,0 0 0,-1 0 0,1 0 0,0 0 0,0 0 0,0 0 0,0 0 0,1 0 0,-1 0 0,0-1 0,4-6 0,-1 0 0,1 1 0,1-1 0,0 1 0,0 1 0,0-1 0,0 1 0,1-1 0,0 2 0,1-1 0,12-9 0,0 0 0,121-99 261,5 6 1,5 7 0,271-138-1,-383 219-261,-25 12 0,0 1 0,1 0 0,-1 1 0,1 0 0,1 1 0,-1 1 0,1 0 0,20-2 0,-34 6 0,0 0 0,-1 0 0,1 0 0,0 0 0,0 0 0,-1 0 0,1 0 0,0 1 0,-1-1 0,1 0 0,-1 0 0,1 1 0,0-1 0,-1 0 0,1 1 0,-1-1 0,1 1 0,-1-1 0,1 1 0,-1-1 0,1 1 0,-1-1 0,1 1 0,-1 0 0,0-1 0,1 1 0,-1-1 0,0 1 0,0 0 0,1-1 0,-1 1 0,0 0 0,0-1 0,0 1 0,0 0 0,0 0 0,0-1 0,0 1 0,0 0 0,0-1 0,0 1 0,0 0 0,-1-1 0,1 1 0,0 0 0,-6 16 0,0-1 0,-1 0 0,0 0 0,-1-1 0,-14 20 0,7-11 0,-77 123 73,-28 50-1511,85-131-5388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C037E-0656-47AE-9E1C-C0A23D334695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7C34B-8911-4C36-8DCC-C763C0D9AC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027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C037E-0656-47AE-9E1C-C0A23D334695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7C34B-8911-4C36-8DCC-C763C0D9AC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931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C037E-0656-47AE-9E1C-C0A23D334695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7C34B-8911-4C36-8DCC-C763C0D9AC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407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C037E-0656-47AE-9E1C-C0A23D334695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7C34B-8911-4C36-8DCC-C763C0D9AC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9743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C037E-0656-47AE-9E1C-C0A23D334695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7C34B-8911-4C36-8DCC-C763C0D9AC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024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C037E-0656-47AE-9E1C-C0A23D334695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7C34B-8911-4C36-8DCC-C763C0D9AC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8596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C037E-0656-47AE-9E1C-C0A23D334695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7C34B-8911-4C36-8DCC-C763C0D9AC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922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C037E-0656-47AE-9E1C-C0A23D334695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7C34B-8911-4C36-8DCC-C763C0D9AC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4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C037E-0656-47AE-9E1C-C0A23D334695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7C34B-8911-4C36-8DCC-C763C0D9AC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5858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C037E-0656-47AE-9E1C-C0A23D334695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7C34B-8911-4C36-8DCC-C763C0D9AC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3346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C037E-0656-47AE-9E1C-C0A23D334695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7C34B-8911-4C36-8DCC-C763C0D9AC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7811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C037E-0656-47AE-9E1C-C0A23D334695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7C34B-8911-4C36-8DCC-C763C0D9AC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2327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2_43531EBB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4_41BDAE2B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17_4283D49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5_A6B4DA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19_37E396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8_1A2C6EF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20.png"/><Relationship Id="rId5" Type="http://schemas.openxmlformats.org/officeDocument/2006/relationships/image" Target="../media/image17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customXml" Target="../ink/ink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customXml" Target="../ink/ink5.xml"/><Relationship Id="rId10" Type="http://schemas.openxmlformats.org/officeDocument/2006/relationships/image" Target="../media/image25.png"/><Relationship Id="rId4" Type="http://schemas.openxmlformats.org/officeDocument/2006/relationships/image" Target="../media/image22.png"/><Relationship Id="rId9" Type="http://schemas.openxmlformats.org/officeDocument/2006/relationships/customXml" Target="../ink/ink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microsoft.com/office/2018/10/relationships/comments" Target="../comments/modernComment_125_286396BA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customXml" Target="../ink/ink8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D_3402FF6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C_DC462AF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E_7F9B4EBE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F_B3E02B3E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11_25DAD37D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13_E62EF5A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23_12CCEFCA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estrela no meio&#10;&#10;O conteúdo gerado por IA pode estar incorreto.">
            <a:extLst>
              <a:ext uri="{FF2B5EF4-FFF2-40B4-BE49-F238E27FC236}">
                <a16:creationId xmlns:a16="http://schemas.microsoft.com/office/drawing/2014/main" id="{DAACB2EF-0517-6F58-7AE2-2FFAD3A09B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" y="0"/>
            <a:ext cx="12189013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0AEC747-565F-C859-2C74-A261B54F07B2}"/>
              </a:ext>
            </a:extLst>
          </p:cNvPr>
          <p:cNvSpPr txBox="1"/>
          <p:nvPr/>
        </p:nvSpPr>
        <p:spPr>
          <a:xfrm>
            <a:off x="2483214" y="2248280"/>
            <a:ext cx="72255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BEHAVIOR OF SPORADIC E LAYERS DURING GEOMAGNETIC STORMS</a:t>
            </a:r>
          </a:p>
          <a:p>
            <a:pPr algn="ctr"/>
            <a:r>
              <a:rPr lang="pt-BR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(2014-2020)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BCB826C-D2DF-6B23-1E24-4F821845DA01}"/>
              </a:ext>
            </a:extLst>
          </p:cNvPr>
          <p:cNvSpPr txBox="1"/>
          <p:nvPr/>
        </p:nvSpPr>
        <p:spPr>
          <a:xfrm>
            <a:off x="3075651" y="4064162"/>
            <a:ext cx="6040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1" dirty="0">
                <a:solidFill>
                  <a:schemeClr val="bg1"/>
                </a:solidFill>
              </a:rPr>
              <a:t>Mariah L. O. Cesar, Marcio T. A. H. </a:t>
            </a:r>
            <a:r>
              <a:rPr lang="pt-BR" b="1" i="1" dirty="0" err="1">
                <a:solidFill>
                  <a:schemeClr val="bg1"/>
                </a:solidFill>
              </a:rPr>
              <a:t>Muella</a:t>
            </a:r>
            <a:r>
              <a:rPr lang="pt-BR" b="1" i="1" dirty="0">
                <a:solidFill>
                  <a:schemeClr val="bg1"/>
                </a:solidFill>
              </a:rPr>
              <a:t>, Paulo R. Fagundes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DECF850-91CF-477E-49A3-77DF10FBFEB5}"/>
              </a:ext>
            </a:extLst>
          </p:cNvPr>
          <p:cNvSpPr txBox="1"/>
          <p:nvPr/>
        </p:nvSpPr>
        <p:spPr>
          <a:xfrm>
            <a:off x="3315491" y="4433494"/>
            <a:ext cx="5561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Instituto de Pesquisa e Desenvolvimento (IP&amp;D) - UNIVAP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9AB2098-7A9D-958B-06B6-72658DBAAACE}"/>
              </a:ext>
            </a:extLst>
          </p:cNvPr>
          <p:cNvSpPr txBox="1"/>
          <p:nvPr/>
        </p:nvSpPr>
        <p:spPr>
          <a:xfrm>
            <a:off x="4972515" y="4802826"/>
            <a:ext cx="2246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FAPESP 2024/07329-2</a:t>
            </a:r>
          </a:p>
        </p:txBody>
      </p:sp>
    </p:spTree>
    <p:extLst>
      <p:ext uri="{BB962C8B-B14F-4D97-AF65-F5344CB8AC3E}">
        <p14:creationId xmlns:p14="http://schemas.microsoft.com/office/powerpoint/2010/main" val="3363657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8B6834E1-0348-0CA8-649F-A1C1D424CF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701" cy="6858000"/>
          </a:xfr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DA99E07-A0D5-7F7C-FDE3-7DAC9E581C13}"/>
              </a:ext>
            </a:extLst>
          </p:cNvPr>
          <p:cNvSpPr txBox="1"/>
          <p:nvPr/>
        </p:nvSpPr>
        <p:spPr>
          <a:xfrm>
            <a:off x="682229" y="1334033"/>
            <a:ext cx="2658100" cy="820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760" b="1" dirty="0">
                <a:solidFill>
                  <a:srgbClr val="3B3B3B"/>
                </a:solidFill>
                <a:latin typeface="Helvetica World Bold"/>
                <a:ea typeface="Yu Gothic Light" panose="020B0300000000000000" pitchFamily="34" charset="-128"/>
              </a:rPr>
              <a:t>CONTEXT</a:t>
            </a:r>
            <a:r>
              <a:rPr lang="pt-BR" sz="4730" b="1" dirty="0">
                <a:solidFill>
                  <a:srgbClr val="3B3B3B"/>
                </a:solidFill>
                <a:latin typeface="Helvetica World Bold"/>
                <a:ea typeface="Yu Gothic Light" panose="020B0300000000000000" pitchFamily="34" charset="-128"/>
              </a:rPr>
              <a:t>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C49B39B-0866-EE0A-36FB-1031C942B8FC}"/>
              </a:ext>
            </a:extLst>
          </p:cNvPr>
          <p:cNvSpPr txBox="1"/>
          <p:nvPr/>
        </p:nvSpPr>
        <p:spPr>
          <a:xfrm>
            <a:off x="682228" y="2154258"/>
            <a:ext cx="401090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Solar activity plays a fundamental role in the dynamics of Earth's near environment. Solar winds, charged with energetic particles, interact with ionospheric ions and electrons. These interactions can cause significant perturbations, such as </a:t>
            </a:r>
            <a:r>
              <a:rPr lang="en-US" b="1" dirty="0"/>
              <a:t>geomagnetic storms</a:t>
            </a:r>
            <a:r>
              <a:rPr lang="en-US" dirty="0"/>
              <a:t>, affecting global communication and navigation systems.</a:t>
            </a:r>
          </a:p>
          <a:p>
            <a:br>
              <a:rPr lang="en-US" dirty="0"/>
            </a:br>
            <a:endParaRPr lang="pt-BR" dirty="0"/>
          </a:p>
        </p:txBody>
      </p:sp>
      <p:pic>
        <p:nvPicPr>
          <p:cNvPr id="2050" name="Picture 2" descr="Interaction of Earth’s magnetosphere with the solar wind plasma.">
            <a:extLst>
              <a:ext uri="{FF2B5EF4-FFF2-40B4-BE49-F238E27FC236}">
                <a16:creationId xmlns:a16="http://schemas.microsoft.com/office/drawing/2014/main" id="{FD367399-BC6E-FAD4-7064-E7F43FCC1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151" y="1575195"/>
            <a:ext cx="6829170" cy="4524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95208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4A916-CC32-AE42-E6BD-FEDC1620D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33D4CE0D-6419-0A92-3B78-5A892056C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701" cy="6858000"/>
          </a:xfr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585AD09-65EC-F0A4-DF9B-618AFDA8A6B6}"/>
              </a:ext>
            </a:extLst>
          </p:cNvPr>
          <p:cNvSpPr txBox="1"/>
          <p:nvPr/>
        </p:nvSpPr>
        <p:spPr>
          <a:xfrm>
            <a:off x="6008790" y="2452476"/>
            <a:ext cx="551090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Temporary perturbations in Earth's geomagnetic field caused by solar phenomena interacting with the terrestrial magnetosphere.</a:t>
            </a:r>
            <a:endParaRPr lang="pt-BR" dirty="0"/>
          </a:p>
          <a:p>
            <a:pPr algn="just"/>
            <a:r>
              <a:rPr lang="en-US" dirty="0"/>
              <a:t>A geomagnetic storm is generally divided into three phases: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Initial Phase:</a:t>
            </a:r>
            <a:r>
              <a:rPr lang="en-US" dirty="0"/>
              <a:t> Starts from the SSC (Sudden Storm Commencement), marked by a </a:t>
            </a:r>
            <a:r>
              <a:rPr lang="en-US" dirty="0" err="1"/>
              <a:t>Dst</a:t>
            </a:r>
            <a:r>
              <a:rPr lang="en-US" dirty="0"/>
              <a:t> index increase;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Main Phase:</a:t>
            </a:r>
            <a:r>
              <a:rPr lang="en-US" dirty="0"/>
              <a:t> Sharp drop in </a:t>
            </a:r>
            <a:r>
              <a:rPr lang="en-US" dirty="0" err="1"/>
              <a:t>Dst</a:t>
            </a:r>
            <a:r>
              <a:rPr lang="en-US" dirty="0"/>
              <a:t> index due to ring current intensification;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Recovery Phase:</a:t>
            </a:r>
            <a:r>
              <a:rPr lang="en-US" dirty="0"/>
              <a:t> Gradual return to pre-storm conditions (</a:t>
            </a:r>
            <a:r>
              <a:rPr lang="en-US" dirty="0" err="1"/>
              <a:t>Dst</a:t>
            </a:r>
            <a:r>
              <a:rPr lang="en-US" dirty="0"/>
              <a:t> reaches -30 </a:t>
            </a:r>
            <a:r>
              <a:rPr lang="en-US" dirty="0" err="1"/>
              <a:t>nT</a:t>
            </a:r>
            <a:r>
              <a:rPr lang="en-US" dirty="0"/>
              <a:t>).</a:t>
            </a:r>
          </a:p>
          <a:p>
            <a:br>
              <a:rPr lang="en-US" dirty="0"/>
            </a:b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68F3C51-03C1-5613-243C-FDF93FFAE5F0}"/>
              </a:ext>
            </a:extLst>
          </p:cNvPr>
          <p:cNvSpPr txBox="1"/>
          <p:nvPr/>
        </p:nvSpPr>
        <p:spPr>
          <a:xfrm>
            <a:off x="6008790" y="1726261"/>
            <a:ext cx="6181106" cy="57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3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60" b="1" i="0" u="none" strike="noStrike" kern="1200" cap="none" spc="-307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Helvetica World Bold"/>
                <a:ea typeface="Helvetica World Bold"/>
                <a:cs typeface="Helvetica World Bold"/>
                <a:sym typeface="Helvetica World Bold"/>
              </a:rPr>
              <a:t>GEOMAGNETIC STORMS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49646FD-8368-D737-8A29-D14D765B3C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61" r="4091"/>
          <a:stretch>
            <a:fillRect/>
          </a:stretch>
        </p:blipFill>
        <p:spPr>
          <a:xfrm>
            <a:off x="236462" y="1726261"/>
            <a:ext cx="5775936" cy="389689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7E9ADF3-10BA-1694-CE5D-9CC84EF2A727}"/>
              </a:ext>
            </a:extLst>
          </p:cNvPr>
          <p:cNvSpPr txBox="1"/>
          <p:nvPr/>
        </p:nvSpPr>
        <p:spPr>
          <a:xfrm>
            <a:off x="2118049" y="5346152"/>
            <a:ext cx="12120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De Paula (1987).</a:t>
            </a:r>
          </a:p>
        </p:txBody>
      </p:sp>
    </p:spTree>
    <p:extLst>
      <p:ext uri="{BB962C8B-B14F-4D97-AF65-F5344CB8AC3E}">
        <p14:creationId xmlns:p14="http://schemas.microsoft.com/office/powerpoint/2010/main" val="110294993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CE766-3D81-FA62-E97B-14029CCC7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10D4F99D-FB73-13A7-53ED-17FFB0C193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701" cy="6858000"/>
          </a:xfr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956FA5A-EFBD-C4E9-769C-AF12063A7AC4}"/>
              </a:ext>
            </a:extLst>
          </p:cNvPr>
          <p:cNvSpPr txBox="1"/>
          <p:nvPr/>
        </p:nvSpPr>
        <p:spPr>
          <a:xfrm>
            <a:off x="6187238" y="2080340"/>
            <a:ext cx="50505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Geomagnetic storms are classified according to the solar wind structure responsible for the event: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ICME</a:t>
            </a:r>
            <a:r>
              <a:rPr lang="en-US" dirty="0"/>
              <a:t> (Interplanetary Coronal Mass Ejection): Mass ejections originating from the solar corona;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CIR</a:t>
            </a:r>
            <a:r>
              <a:rPr lang="en-US" dirty="0"/>
              <a:t> (Corotating Interaction Region): Regions of interaction between high and low speed solar wind streams;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SIR</a:t>
            </a:r>
            <a:r>
              <a:rPr lang="en-US" dirty="0"/>
              <a:t> (Stream Interaction Region): Interaction zones between plasma flows of different velocities.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Storms are identified and classified using geomagnetic indices: </a:t>
            </a:r>
            <a:r>
              <a:rPr lang="en-US" b="1" dirty="0" err="1"/>
              <a:t>Dst</a:t>
            </a:r>
            <a:r>
              <a:rPr lang="en-US" b="1" dirty="0"/>
              <a:t>, SYM-H, and </a:t>
            </a:r>
            <a:r>
              <a:rPr lang="en-US" b="1" dirty="0" err="1"/>
              <a:t>Kp</a:t>
            </a:r>
            <a:r>
              <a:rPr lang="en-US" dirty="0"/>
              <a:t>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D2DDD5B-B941-C909-ABE4-F97C42ECA861}"/>
              </a:ext>
            </a:extLst>
          </p:cNvPr>
          <p:cNvSpPr txBox="1"/>
          <p:nvPr/>
        </p:nvSpPr>
        <p:spPr>
          <a:xfrm>
            <a:off x="6095849" y="1438498"/>
            <a:ext cx="6181106" cy="57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3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60" b="1" i="0" u="none" strike="noStrike" kern="1200" cap="none" spc="-307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Helvetica World Bold"/>
                <a:ea typeface="Helvetica World Bold"/>
                <a:cs typeface="Helvetica World Bold"/>
                <a:sym typeface="Helvetica World Bold"/>
              </a:rPr>
              <a:t>GEOMAGNETIC STORMS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F10B00D-DF38-FEFC-111F-DC4A6A19CA28}"/>
              </a:ext>
            </a:extLst>
          </p:cNvPr>
          <p:cNvSpPr txBox="1"/>
          <p:nvPr/>
        </p:nvSpPr>
        <p:spPr>
          <a:xfrm>
            <a:off x="2921697" y="5496661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/>
              <a:t>Tsurutani</a:t>
            </a:r>
            <a:r>
              <a:rPr lang="pt-BR" sz="1400" dirty="0"/>
              <a:t> (2000).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4170379-8682-ACA2-E42C-253715705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416" y="1498233"/>
            <a:ext cx="4662426" cy="399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9358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58258-1FAC-B938-AB3B-BEB441E5E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7EC5E79B-42AF-119D-8B22-C152CE12B2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701" cy="6858000"/>
          </a:xfr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6A2D2BC-97D7-6C56-1D4E-75F36AF59699}"/>
              </a:ext>
            </a:extLst>
          </p:cNvPr>
          <p:cNvSpPr txBox="1"/>
          <p:nvPr/>
        </p:nvSpPr>
        <p:spPr>
          <a:xfrm>
            <a:off x="741416" y="2120775"/>
            <a:ext cx="609797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Upper layer of the Earth's atmosphere (60 to 2000 km), characterized by ionized particles and free electrons, </a:t>
            </a:r>
            <a:r>
              <a:rPr lang="pt-BR" dirty="0" err="1"/>
              <a:t>forming</a:t>
            </a:r>
            <a:r>
              <a:rPr lang="pt-BR" dirty="0"/>
              <a:t> a </a:t>
            </a:r>
            <a:r>
              <a:rPr lang="pt-BR" dirty="0" err="1"/>
              <a:t>conductive</a:t>
            </a:r>
            <a:r>
              <a:rPr lang="pt-BR" dirty="0"/>
              <a:t> plasma </a:t>
            </a:r>
            <a:r>
              <a:rPr lang="pt-BR" dirty="0" err="1"/>
              <a:t>medium</a:t>
            </a:r>
            <a:r>
              <a:rPr lang="pt-BR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Divided into three main regions: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 Layer (50-90 km):</a:t>
            </a:r>
            <a:r>
              <a:rPr lang="en-US" dirty="0"/>
              <a:t> Low ionization, mainly diurnal;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 Layer (90-150 km):</a:t>
            </a:r>
            <a:r>
              <a:rPr lang="en-US" dirty="0"/>
              <a:t> Intermediate ionization level;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 Layer (150+ km):</a:t>
            </a:r>
            <a:r>
              <a:rPr lang="en-US" dirty="0"/>
              <a:t> Highest density (F1 and F2).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Geomagnetic storms alter plasma dynamics, directly affecting navigation and global communication systems.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2BAFE6-0A65-0CB3-1CEC-84CF5BF4BD74}"/>
              </a:ext>
            </a:extLst>
          </p:cNvPr>
          <p:cNvSpPr txBox="1"/>
          <p:nvPr/>
        </p:nvSpPr>
        <p:spPr>
          <a:xfrm>
            <a:off x="784959" y="1532921"/>
            <a:ext cx="6097978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3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60" b="1" i="0" u="none" strike="noStrike" kern="1200" cap="none" spc="-307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Helvetica World Bold"/>
                <a:ea typeface="Helvetica World Bold"/>
                <a:cs typeface="Helvetica World Bold"/>
                <a:sym typeface="Helvetica World Bold"/>
              </a:rPr>
              <a:t>IONOS</a:t>
            </a:r>
            <a:r>
              <a:rPr lang="en-US" sz="3760" b="1" spc="-307" dirty="0">
                <a:solidFill>
                  <a:srgbClr val="3B3B3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PHERE</a:t>
            </a:r>
            <a:endParaRPr kumimoji="0" lang="en-US" sz="3760" b="1" i="0" u="none" strike="noStrike" kern="1200" cap="none" spc="-307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A27ED73-7BEB-6F9B-0F73-51A77DD953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499" b="5190"/>
          <a:stretch>
            <a:fillRect/>
          </a:stretch>
        </p:blipFill>
        <p:spPr>
          <a:xfrm>
            <a:off x="6882937" y="1988673"/>
            <a:ext cx="5041272" cy="397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8703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17D8B-8E56-3BED-9E5C-A63ECF18C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D9DE3F37-74F3-CE95-E100-6ED9CE37BB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701" cy="6858000"/>
          </a:xfr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4CA7DD9-9E40-5ABA-48B6-1AF265CF1D22}"/>
              </a:ext>
            </a:extLst>
          </p:cNvPr>
          <p:cNvSpPr txBox="1"/>
          <p:nvPr/>
        </p:nvSpPr>
        <p:spPr>
          <a:xfrm>
            <a:off x="5434940" y="2395062"/>
            <a:ext cx="597210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Plasma enhancements within a narrow height range in the ionospheric E region, generally between 90 and 140 km altitude.</a:t>
            </a:r>
          </a:p>
          <a:p>
            <a:endParaRPr lang="en-US" dirty="0"/>
          </a:p>
          <a:p>
            <a:r>
              <a:rPr lang="en-US" dirty="0"/>
              <a:t>Formation is primarily associated with the neutral wind shear mechanism.</a:t>
            </a:r>
          </a:p>
          <a:p>
            <a:endParaRPr lang="en-US" dirty="0"/>
          </a:p>
          <a:p>
            <a:r>
              <a:rPr lang="en-US" dirty="0"/>
              <a:t>During geomagnetic disturbances, other factors contribute: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Penetration of disturbed electric fields;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Precipitation of energetic particles from the magnetosphere.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1FAB716-6C92-19A7-EE42-731BCCA92C48}"/>
              </a:ext>
            </a:extLst>
          </p:cNvPr>
          <p:cNvSpPr txBox="1"/>
          <p:nvPr/>
        </p:nvSpPr>
        <p:spPr>
          <a:xfrm>
            <a:off x="784959" y="1635337"/>
            <a:ext cx="7884028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3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60" b="1" i="0" u="none" strike="noStrike" kern="1200" cap="none" spc="-307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Helvetica World Bold"/>
                <a:ea typeface="Helvetica World Bold"/>
                <a:cs typeface="Helvetica World Bold"/>
                <a:sym typeface="Helvetica World Bold"/>
              </a:rPr>
              <a:t>SPORADIC E (Es) LAYERS</a:t>
            </a:r>
          </a:p>
        </p:txBody>
      </p:sp>
      <p:pic>
        <p:nvPicPr>
          <p:cNvPr id="2" name="Imagem 1" descr="Solar EUV create the ionosphere that enables propagation">
            <a:extLst>
              <a:ext uri="{FF2B5EF4-FFF2-40B4-BE49-F238E27FC236}">
                <a16:creationId xmlns:a16="http://schemas.microsoft.com/office/drawing/2014/main" id="{570CF189-0ED0-FC0F-0205-049705378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695" y="2395062"/>
            <a:ext cx="4429245" cy="34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66201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030B4-C45D-AA75-2B22-480E7B8D3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4C011EFE-D463-7AAA-7028-7ABDD87DCE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701" cy="6858000"/>
          </a:xfr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262E607-0D95-A937-7B55-CDD729898268}"/>
              </a:ext>
            </a:extLst>
          </p:cNvPr>
          <p:cNvSpPr txBox="1"/>
          <p:nvPr/>
        </p:nvSpPr>
        <p:spPr>
          <a:xfrm>
            <a:off x="923398" y="1408341"/>
            <a:ext cx="5002588" cy="6709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760" b="1" dirty="0">
                <a:solidFill>
                  <a:srgbClr val="3B3B3B"/>
                </a:solidFill>
                <a:latin typeface="Helvetica World Bold"/>
                <a:ea typeface="Yu Gothic Light" panose="020B0300000000000000" pitchFamily="34" charset="-128"/>
              </a:rPr>
              <a:t>STUDY OBJECTIVES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A8AF27A-9BEA-DD76-933A-11EFD89F5605}"/>
              </a:ext>
            </a:extLst>
          </p:cNvPr>
          <p:cNvSpPr txBox="1"/>
          <p:nvPr/>
        </p:nvSpPr>
        <p:spPr>
          <a:xfrm>
            <a:off x="1005842" y="2364377"/>
            <a:ext cx="102804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Analyze the behavior of sporadic E layers during geomagnetic storms between </a:t>
            </a:r>
            <a:r>
              <a:rPr lang="en-US" b="1" dirty="0"/>
              <a:t>2014 and 2020</a:t>
            </a:r>
            <a:r>
              <a:rPr lang="en-US" dirty="0"/>
              <a:t>, considering: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Storm Phase (Initial, Main, Recovery)</a:t>
            </a:r>
            <a:r>
              <a:rPr lang="pt-BR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Solar Wind Structure (ICME, CIR, SIR);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Seasonality</a:t>
            </a:r>
            <a:r>
              <a:rPr lang="pt-BR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Event Intensity (Moderate to Super Intense);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 of Day (Diurnal vs. Nocturnal);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Solar Flux (F10.7)</a:t>
            </a:r>
            <a:br>
              <a:rPr lang="pt-B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141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E9B0E-B9E4-7A98-409B-811F6D740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6FBFF685-43DD-A13D-AE16-AB4BC58585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701" cy="6858000"/>
          </a:xfr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59E8FE1-C71C-311D-3F1A-B9F48E7F0B60}"/>
              </a:ext>
            </a:extLst>
          </p:cNvPr>
          <p:cNvSpPr txBox="1"/>
          <p:nvPr/>
        </p:nvSpPr>
        <p:spPr>
          <a:xfrm>
            <a:off x="850272" y="1765621"/>
            <a:ext cx="105797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Events were selected from the Kyoto University World Data Center for Geomagnetism based on </a:t>
            </a:r>
            <a:r>
              <a:rPr lang="en-US" b="1" dirty="0" err="1"/>
              <a:t>Dst</a:t>
            </a:r>
            <a:r>
              <a:rPr lang="en-US" dirty="0"/>
              <a:t> and </a:t>
            </a:r>
            <a:r>
              <a:rPr lang="en-US" b="1" dirty="0"/>
              <a:t>SYM-H</a:t>
            </a:r>
            <a:r>
              <a:rPr lang="en-US" dirty="0"/>
              <a:t> indices.</a:t>
            </a:r>
          </a:p>
          <a:p>
            <a:pPr algn="just"/>
            <a:r>
              <a:rPr lang="en-US" dirty="0"/>
              <a:t>The storms were identified by the SSC and classified into different intensity levels based on the minimum </a:t>
            </a:r>
            <a:r>
              <a:rPr lang="en-US" dirty="0" err="1"/>
              <a:t>Dst</a:t>
            </a:r>
            <a:r>
              <a:rPr lang="en-US" dirty="0"/>
              <a:t> value: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20F43FB-9B24-FF66-0B00-381A4D474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849" y="3462882"/>
            <a:ext cx="3983194" cy="192366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BD3D83A-7D27-BC01-E86A-9433CE94B020}"/>
              </a:ext>
            </a:extLst>
          </p:cNvPr>
          <p:cNvSpPr txBox="1"/>
          <p:nvPr/>
        </p:nvSpPr>
        <p:spPr>
          <a:xfrm>
            <a:off x="1556659" y="5430894"/>
            <a:ext cx="32929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Fonte: Adaptada de </a:t>
            </a:r>
            <a:r>
              <a:rPr lang="pt-BR" sz="1400" dirty="0" err="1"/>
              <a:t>Loewe</a:t>
            </a:r>
            <a:r>
              <a:rPr lang="pt-BR" sz="1400" dirty="0"/>
              <a:t> e </a:t>
            </a:r>
            <a:r>
              <a:rPr lang="pt-BR" sz="1400" dirty="0" err="1"/>
              <a:t>Prölss</a:t>
            </a:r>
            <a:r>
              <a:rPr lang="pt-BR" sz="1400" dirty="0"/>
              <a:t> (1997).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DDB17B4-0584-54AB-4F16-9CB9793C3C6D}"/>
              </a:ext>
            </a:extLst>
          </p:cNvPr>
          <p:cNvSpPr txBox="1"/>
          <p:nvPr/>
        </p:nvSpPr>
        <p:spPr>
          <a:xfrm>
            <a:off x="850272" y="1231084"/>
            <a:ext cx="7635737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3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760" b="1" spc="-307" dirty="0">
                <a:solidFill>
                  <a:srgbClr val="3B3B3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EVENT SELECTION</a:t>
            </a:r>
            <a:endParaRPr kumimoji="0" lang="en-US" sz="3760" b="1" i="0" u="none" strike="noStrike" kern="1200" cap="none" spc="-307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18CC6C4-EDBA-EAA3-4FDC-EABEF7E7F9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5524" y="2726370"/>
            <a:ext cx="4211351" cy="395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11960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F425E-6DE5-B265-42BA-E738ECE1C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89D2E8EA-5C94-0CA7-C51A-B113353D4F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701" cy="6858000"/>
          </a:xfr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2EF0293-C037-C814-BE9F-6D0C64C9D041}"/>
              </a:ext>
            </a:extLst>
          </p:cNvPr>
          <p:cNvSpPr txBox="1"/>
          <p:nvPr/>
        </p:nvSpPr>
        <p:spPr>
          <a:xfrm>
            <a:off x="850272" y="1985554"/>
            <a:ext cx="105797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err="1"/>
              <a:t>Each</a:t>
            </a:r>
            <a:r>
              <a:rPr lang="pt-BR" dirty="0"/>
              <a:t> </a:t>
            </a:r>
            <a:r>
              <a:rPr lang="pt-BR" dirty="0" err="1"/>
              <a:t>storm</a:t>
            </a:r>
            <a:r>
              <a:rPr lang="pt-BR" dirty="0"/>
              <a:t> </a:t>
            </a:r>
            <a:r>
              <a:rPr lang="pt-BR" dirty="0" err="1"/>
              <a:t>was</a:t>
            </a:r>
            <a:r>
              <a:rPr lang="pt-BR" dirty="0"/>
              <a:t> </a:t>
            </a:r>
            <a:r>
              <a:rPr lang="pt-BR" dirty="0" err="1"/>
              <a:t>organized</a:t>
            </a:r>
            <a:r>
              <a:rPr lang="pt-BR" dirty="0"/>
              <a:t> </a:t>
            </a:r>
            <a:r>
              <a:rPr lang="pt-BR" dirty="0" err="1"/>
              <a:t>by</a:t>
            </a:r>
            <a:r>
              <a:rPr lang="pt-BR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SSC date and time;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Minimum SYM-H value and time of occurrence;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Kp</a:t>
            </a:r>
            <a:r>
              <a:rPr lang="en-US" dirty="0"/>
              <a:t> index;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 phase duration and night(from SSC to minimum SYM-H);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Recovery phase duration and nights(from minimum SYM-H until returning to -30 </a:t>
            </a:r>
            <a:r>
              <a:rPr lang="en-US" dirty="0" err="1"/>
              <a:t>nT</a:t>
            </a:r>
            <a:r>
              <a:rPr lang="en-US" dirty="0"/>
              <a:t>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Solar Wind Structure (ICME, CIR, or SIR);</a:t>
            </a:r>
          </a:p>
          <a:p>
            <a:r>
              <a:rPr lang="en-US" dirty="0"/>
              <a:t>A total of 78 events were identified, ranging from moderate to super-intense.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6AB7BB8-F4DB-31E9-5642-49969E1AE470}"/>
              </a:ext>
            </a:extLst>
          </p:cNvPr>
          <p:cNvSpPr txBox="1"/>
          <p:nvPr/>
        </p:nvSpPr>
        <p:spPr>
          <a:xfrm>
            <a:off x="850272" y="1427106"/>
            <a:ext cx="7635737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3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760" b="1" spc="-307" dirty="0">
                <a:solidFill>
                  <a:srgbClr val="3B3B3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EVENT SELECTION</a:t>
            </a:r>
            <a:endParaRPr kumimoji="0" lang="en-US" sz="3760" b="1" i="0" u="none" strike="noStrike" kern="1200" cap="none" spc="-307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1805741-2360-95B3-D355-0C2EA46BD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216" y="4293878"/>
            <a:ext cx="9525837" cy="210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528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4DBD7-F36C-C0B3-D256-7970A571D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6C8E7D8E-CD99-BC46-9BC1-E94DC6A233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701" cy="6858000"/>
          </a:xfr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4D31427-3C9E-D2E2-D2F6-1D50C9099E56}"/>
              </a:ext>
            </a:extLst>
          </p:cNvPr>
          <p:cNvSpPr txBox="1"/>
          <p:nvPr/>
        </p:nvSpPr>
        <p:spPr>
          <a:xfrm>
            <a:off x="658870" y="1214073"/>
            <a:ext cx="7275068" cy="6709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760" b="1" dirty="0">
                <a:solidFill>
                  <a:srgbClr val="3B3B3B"/>
                </a:solidFill>
                <a:latin typeface="Helvetica World Bold"/>
                <a:ea typeface="Yu Gothic Light" panose="020B0300000000000000" pitchFamily="34" charset="-128"/>
              </a:rPr>
              <a:t>IONOGRAM DATA REDUCTION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6E67CFF-EC9F-F2C0-ABD6-F81A9D8E19C2}"/>
              </a:ext>
            </a:extLst>
          </p:cNvPr>
          <p:cNvSpPr txBox="1"/>
          <p:nvPr/>
        </p:nvSpPr>
        <p:spPr>
          <a:xfrm>
            <a:off x="5595821" y="2043724"/>
            <a:ext cx="573154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Data </a:t>
            </a:r>
            <a:r>
              <a:rPr lang="pt-BR" dirty="0" err="1"/>
              <a:t>reduction</a:t>
            </a:r>
            <a:r>
              <a:rPr lang="pt-BR" dirty="0"/>
              <a:t> </a:t>
            </a:r>
            <a:r>
              <a:rPr lang="pt-BR" dirty="0" err="1"/>
              <a:t>was</a:t>
            </a:r>
            <a:r>
              <a:rPr lang="pt-BR" dirty="0"/>
              <a:t> </a:t>
            </a:r>
            <a:r>
              <a:rPr lang="pt-BR" dirty="0" err="1"/>
              <a:t>performed</a:t>
            </a:r>
            <a:r>
              <a:rPr lang="pt-BR" dirty="0"/>
              <a:t> </a:t>
            </a:r>
            <a:r>
              <a:rPr lang="pt-BR" dirty="0" err="1"/>
              <a:t>using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b="1" dirty="0"/>
              <a:t>UDIDA Software</a:t>
            </a:r>
            <a:r>
              <a:rPr lang="pt-BR" dirty="0"/>
              <a:t> (Univap Digital </a:t>
            </a:r>
            <a:r>
              <a:rPr lang="pt-BR" dirty="0" err="1"/>
              <a:t>Ionosonde</a:t>
            </a:r>
            <a:r>
              <a:rPr lang="pt-BR" dirty="0"/>
              <a:t> Data </a:t>
            </a:r>
            <a:r>
              <a:rPr lang="pt-BR" dirty="0" err="1"/>
              <a:t>Analysis</a:t>
            </a:r>
            <a:r>
              <a:rPr lang="pt-BR" dirty="0"/>
              <a:t>).</a:t>
            </a:r>
          </a:p>
          <a:p>
            <a:pPr algn="just"/>
            <a:r>
              <a:rPr lang="pt-BR" dirty="0"/>
              <a:t>Primary </a:t>
            </a:r>
            <a:r>
              <a:rPr lang="pt-BR" dirty="0" err="1"/>
              <a:t>focus</a:t>
            </a:r>
            <a:r>
              <a:rPr lang="pt-BR" dirty="0"/>
              <a:t> </a:t>
            </a:r>
            <a:r>
              <a:rPr lang="pt-BR" dirty="0" err="1"/>
              <a:t>on</a:t>
            </a:r>
            <a:r>
              <a:rPr lang="pt-BR" dirty="0"/>
              <a:t> </a:t>
            </a:r>
            <a:r>
              <a:rPr lang="pt-BR" dirty="0" err="1"/>
              <a:t>recordings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São José dos Campos digital </a:t>
            </a:r>
            <a:r>
              <a:rPr lang="pt-BR" dirty="0" err="1"/>
              <a:t>ionosondes</a:t>
            </a:r>
            <a:r>
              <a:rPr lang="pt-BR" dirty="0"/>
              <a:t>, </a:t>
            </a:r>
            <a:r>
              <a:rPr lang="pt-BR" dirty="0" err="1"/>
              <a:t>but</a:t>
            </a:r>
            <a:r>
              <a:rPr lang="pt-BR" dirty="0"/>
              <a:t> </a:t>
            </a:r>
            <a:r>
              <a:rPr lang="pt-BR" dirty="0" err="1"/>
              <a:t>there</a:t>
            </a:r>
            <a:r>
              <a:rPr lang="pt-BR" dirty="0"/>
              <a:t> </a:t>
            </a:r>
            <a:r>
              <a:rPr lang="pt-BR" dirty="0" err="1"/>
              <a:t>were</a:t>
            </a:r>
            <a:r>
              <a:rPr lang="pt-BR" dirty="0"/>
              <a:t> cases </a:t>
            </a:r>
            <a:r>
              <a:rPr lang="pt-BR" dirty="0" err="1"/>
              <a:t>from</a:t>
            </a:r>
            <a:r>
              <a:rPr lang="pt-BR" dirty="0"/>
              <a:t> Palmas digital </a:t>
            </a:r>
            <a:r>
              <a:rPr lang="pt-BR" dirty="0" err="1"/>
              <a:t>ionosondes</a:t>
            </a:r>
            <a:r>
              <a:rPr lang="pt-BR" dirty="0"/>
              <a:t>.</a:t>
            </a:r>
          </a:p>
          <a:p>
            <a:pPr algn="just"/>
            <a:r>
              <a:rPr lang="pt-BR" dirty="0" err="1"/>
              <a:t>Extracted</a:t>
            </a:r>
            <a:r>
              <a:rPr lang="pt-BR" dirty="0"/>
              <a:t> </a:t>
            </a:r>
            <a:r>
              <a:rPr lang="pt-BR" dirty="0" err="1"/>
              <a:t>Parameters</a:t>
            </a:r>
            <a:r>
              <a:rPr lang="pt-BR" dirty="0"/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 err="1"/>
              <a:t>h’Es</a:t>
            </a:r>
            <a:r>
              <a:rPr lang="pt-BR" dirty="0"/>
              <a:t> - Virtual </a:t>
            </a:r>
            <a:r>
              <a:rPr lang="pt-BR" dirty="0" err="1"/>
              <a:t>Height</a:t>
            </a:r>
            <a:r>
              <a:rPr lang="pt-BR" dirty="0"/>
              <a:t>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 err="1"/>
              <a:t>fbEs</a:t>
            </a:r>
            <a:r>
              <a:rPr lang="pt-BR" dirty="0"/>
              <a:t> - </a:t>
            </a:r>
            <a:r>
              <a:rPr lang="pt-BR" dirty="0" err="1"/>
              <a:t>Blanketing</a:t>
            </a:r>
            <a:r>
              <a:rPr lang="pt-BR" dirty="0"/>
              <a:t> Frequency;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 err="1"/>
              <a:t>ftEs</a:t>
            </a:r>
            <a:r>
              <a:rPr lang="pt-BR" dirty="0"/>
              <a:t> - Top Frequency;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 err="1"/>
              <a:t>Type</a:t>
            </a:r>
            <a:r>
              <a:rPr lang="pt-BR" b="1" dirty="0"/>
              <a:t> - </a:t>
            </a:r>
            <a:r>
              <a:rPr lang="pt-BR" dirty="0"/>
              <a:t> flat, </a:t>
            </a:r>
            <a:r>
              <a:rPr lang="pt-BR" dirty="0" err="1"/>
              <a:t>low</a:t>
            </a:r>
            <a:r>
              <a:rPr lang="pt-BR" dirty="0"/>
              <a:t>, </a:t>
            </a:r>
            <a:r>
              <a:rPr lang="pt-BR" dirty="0" err="1"/>
              <a:t>cusp</a:t>
            </a:r>
            <a:r>
              <a:rPr lang="pt-BR" dirty="0"/>
              <a:t>, </a:t>
            </a:r>
            <a:r>
              <a:rPr lang="pt-BR" dirty="0" err="1"/>
              <a:t>height</a:t>
            </a:r>
            <a:r>
              <a:rPr lang="pt-BR" dirty="0"/>
              <a:t>, </a:t>
            </a:r>
            <a:r>
              <a:rPr lang="pt-BR" dirty="0" err="1"/>
              <a:t>slant</a:t>
            </a:r>
            <a:r>
              <a:rPr lang="pt-BR" dirty="0"/>
              <a:t>.</a:t>
            </a:r>
          </a:p>
          <a:p>
            <a:pPr algn="just"/>
            <a:endParaRPr lang="pt-BR" dirty="0"/>
          </a:p>
          <a:p>
            <a:pPr algn="just"/>
            <a:r>
              <a:rPr lang="pt-BR" dirty="0" err="1"/>
              <a:t>Each</a:t>
            </a:r>
            <a:r>
              <a:rPr lang="pt-BR" dirty="0"/>
              <a:t> </a:t>
            </a:r>
            <a:r>
              <a:rPr lang="pt-BR" dirty="0" err="1"/>
              <a:t>event</a:t>
            </a:r>
            <a:r>
              <a:rPr lang="pt-BR" dirty="0"/>
              <a:t> </a:t>
            </a:r>
            <a:r>
              <a:rPr lang="pt-BR" dirty="0" err="1"/>
              <a:t>were</a:t>
            </a:r>
            <a:r>
              <a:rPr lang="pt-BR" dirty="0"/>
              <a:t> </a:t>
            </a:r>
            <a:r>
              <a:rPr lang="pt-BR" dirty="0" err="1"/>
              <a:t>analyzed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SSC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end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recovery</a:t>
            </a:r>
            <a:r>
              <a:rPr lang="pt-BR" dirty="0"/>
              <a:t> </a:t>
            </a:r>
            <a:r>
              <a:rPr lang="pt-BR" dirty="0" err="1"/>
              <a:t>phase</a:t>
            </a:r>
            <a:r>
              <a:rPr lang="pt-BR" dirty="0"/>
              <a:t>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4E97720-3E8C-464F-C81A-1286A78ED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565" y="2043724"/>
            <a:ext cx="4818867" cy="371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944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8494A-597B-2893-AB80-C2AAE3004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F797286C-A385-2742-FE0B-47347B8952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701" cy="6858000"/>
          </a:xfr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C3D68EF-CF74-0794-F6FF-E71664AF9398}"/>
              </a:ext>
            </a:extLst>
          </p:cNvPr>
          <p:cNvSpPr txBox="1"/>
          <p:nvPr/>
        </p:nvSpPr>
        <p:spPr>
          <a:xfrm>
            <a:off x="888433" y="1259883"/>
            <a:ext cx="7014356" cy="6709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760" b="1" dirty="0">
                <a:solidFill>
                  <a:srgbClr val="3B3B3B"/>
                </a:solidFill>
                <a:latin typeface="Helvetica World Bold"/>
                <a:ea typeface="Yu Gothic Light" panose="020B0300000000000000" pitchFamily="34" charset="-128"/>
              </a:rPr>
              <a:t>MORPHOLOGICAL ES TYPES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AA89CF4-73F6-46C0-A464-DE9A12CEA4EA}"/>
              </a:ext>
            </a:extLst>
          </p:cNvPr>
          <p:cNvSpPr txBox="1"/>
          <p:nvPr/>
        </p:nvSpPr>
        <p:spPr>
          <a:xfrm>
            <a:off x="888433" y="5342654"/>
            <a:ext cx="106201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flat (</a:t>
            </a:r>
            <a:r>
              <a:rPr lang="pt-BR" b="1" dirty="0" err="1"/>
              <a:t>Esf</a:t>
            </a:r>
            <a:r>
              <a:rPr lang="pt-BR" b="1" dirty="0"/>
              <a:t>): </a:t>
            </a:r>
            <a:r>
              <a:rPr lang="en-US" dirty="0"/>
              <a:t>characterized by a horizontal trace on the </a:t>
            </a:r>
            <a:r>
              <a:rPr lang="en-US" dirty="0" err="1"/>
              <a:t>ionograms</a:t>
            </a:r>
            <a:r>
              <a:rPr lang="en-US" dirty="0"/>
              <a:t>, in which the layer height remains constant with the increase of frequency. This type is frequently found in the nighttime period (18-6 LT).</a:t>
            </a:r>
          </a:p>
          <a:p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3035922-0497-48AF-86C2-A45FA5BE6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33" y="2031379"/>
            <a:ext cx="4592824" cy="311018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31427CC-D441-8044-A96D-9D754AE84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691" y="1873906"/>
            <a:ext cx="4533268" cy="326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079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DE221-05A7-417D-70BA-E33058EC0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7A1CA979-B8AD-240D-1223-65C837796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701" cy="6858000"/>
          </a:xfr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3DA6043-C28C-33FD-97D5-C20142C96EEC}"/>
              </a:ext>
            </a:extLst>
          </p:cNvPr>
          <p:cNvSpPr txBox="1"/>
          <p:nvPr/>
        </p:nvSpPr>
        <p:spPr>
          <a:xfrm>
            <a:off x="806954" y="1202952"/>
            <a:ext cx="7014356" cy="6709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760" b="1" dirty="0">
                <a:solidFill>
                  <a:srgbClr val="3B3B3B"/>
                </a:solidFill>
                <a:latin typeface="Helvetica World Bold"/>
                <a:ea typeface="Yu Gothic Light" panose="020B0300000000000000" pitchFamily="34" charset="-128"/>
              </a:rPr>
              <a:t>MORPHOLOGICAL ES TYPES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7EB11E4-0AB0-E960-5BA4-212032D51A73}"/>
              </a:ext>
            </a:extLst>
          </p:cNvPr>
          <p:cNvSpPr txBox="1"/>
          <p:nvPr/>
        </p:nvSpPr>
        <p:spPr>
          <a:xfrm>
            <a:off x="888433" y="5342654"/>
            <a:ext cx="106201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 err="1"/>
              <a:t>low</a:t>
            </a:r>
            <a:r>
              <a:rPr lang="pt-BR" b="1" dirty="0"/>
              <a:t> (</a:t>
            </a:r>
            <a:r>
              <a:rPr lang="pt-BR" b="1" dirty="0" err="1"/>
              <a:t>Esl</a:t>
            </a:r>
            <a:r>
              <a:rPr lang="pt-BR" b="1" dirty="0"/>
              <a:t>): </a:t>
            </a:r>
            <a:r>
              <a:rPr lang="en-US" dirty="0"/>
              <a:t>emerge at the minimum height of the E layer and remain at a constant height while the frequency increases. Their shape is similar to type f; the difference is given by the time at which they appear, as they are thus classified when observed during the day (6-18 LT).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87D0913-533D-2729-E935-8E98EAF13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749" y="2210209"/>
            <a:ext cx="4817100" cy="293135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D9E21EF-2341-5047-0706-48AF49147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808" y="1918685"/>
            <a:ext cx="4646385" cy="337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337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D99C2-C61A-8209-178F-3FE8A0F46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04B0E14A-5CB5-DDEC-42D5-242C2A1AEF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701" cy="6858000"/>
          </a:xfr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951F975-7D56-2B05-D863-E3E75492F7E6}"/>
              </a:ext>
            </a:extLst>
          </p:cNvPr>
          <p:cNvSpPr txBox="1"/>
          <p:nvPr/>
        </p:nvSpPr>
        <p:spPr>
          <a:xfrm>
            <a:off x="859869" y="1181878"/>
            <a:ext cx="7014356" cy="6709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760" b="1" dirty="0">
                <a:solidFill>
                  <a:srgbClr val="3B3B3B"/>
                </a:solidFill>
                <a:latin typeface="Helvetica World Bold"/>
                <a:ea typeface="Yu Gothic Light" panose="020B0300000000000000" pitchFamily="34" charset="-128"/>
              </a:rPr>
              <a:t>MORPHOLOGICAL ES TYPES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2A8B8B9-FFC4-C878-CD42-6D2380686ADB}"/>
              </a:ext>
            </a:extLst>
          </p:cNvPr>
          <p:cNvSpPr txBox="1"/>
          <p:nvPr/>
        </p:nvSpPr>
        <p:spPr>
          <a:xfrm>
            <a:off x="888433" y="5342654"/>
            <a:ext cx="10620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 err="1"/>
              <a:t>cusp</a:t>
            </a:r>
            <a:r>
              <a:rPr lang="pt-BR" b="1" dirty="0"/>
              <a:t> (</a:t>
            </a:r>
            <a:r>
              <a:rPr lang="pt-BR" b="1" dirty="0" err="1"/>
              <a:t>Esc</a:t>
            </a:r>
            <a:r>
              <a:rPr lang="pt-BR" b="1" dirty="0"/>
              <a:t>): </a:t>
            </a:r>
            <a:r>
              <a:rPr lang="en-US" dirty="0"/>
              <a:t>demonstrate a slight inclination and height variation, forming a characteristic cusp. In cases of strong absorption, this cusp may appear partially absent.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EC3A285-B8D8-C8B4-AAFB-4BD5169B6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428" y="2150038"/>
            <a:ext cx="5089572" cy="29915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EB57549B-B81D-55B6-EFC4-005512A45CCA}"/>
                  </a:ext>
                </a:extLst>
              </p14:cNvPr>
              <p14:cNvContentPartPr/>
              <p14:nvPr/>
            </p14:nvContentPartPr>
            <p14:xfrm>
              <a:off x="12759273" y="4971190"/>
              <a:ext cx="360" cy="36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EB57549B-B81D-55B6-EFC4-005512A45CC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53153" y="496507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F6D6BE1B-D5CB-8474-B21E-B4A5D6E92F7E}"/>
                  </a:ext>
                </a:extLst>
              </p14:cNvPr>
              <p14:cNvContentPartPr/>
              <p14:nvPr/>
            </p14:nvContentPartPr>
            <p14:xfrm>
              <a:off x="5840793" y="2123950"/>
              <a:ext cx="140760" cy="31320"/>
            </p14:xfrm>
          </p:contentPart>
        </mc:Choice>
        <mc:Fallback xmlns=""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F6D6BE1B-D5CB-8474-B21E-B4A5D6E92F7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34673" y="2117830"/>
                <a:ext cx="1530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0A78E044-C431-A7FB-298D-39D263DECC69}"/>
                  </a:ext>
                </a:extLst>
              </p14:cNvPr>
              <p14:cNvContentPartPr/>
              <p14:nvPr/>
            </p14:nvContentPartPr>
            <p14:xfrm>
              <a:off x="5871033" y="2017750"/>
              <a:ext cx="259920" cy="219960"/>
            </p14:xfrm>
          </p:contentPart>
        </mc:Choice>
        <mc:Fallback xmlns=""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0A78E044-C431-A7FB-298D-39D263DECC6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64913" y="2011630"/>
                <a:ext cx="27216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95A364AB-1720-A8D9-7C29-DC30B6DD6400}"/>
                  </a:ext>
                </a:extLst>
              </p14:cNvPr>
              <p14:cNvContentPartPr/>
              <p14:nvPr/>
            </p14:nvContentPartPr>
            <p14:xfrm>
              <a:off x="9711513" y="3436941"/>
              <a:ext cx="360" cy="36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95A364AB-1720-A8D9-7C29-DC30B6DD64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05393" y="3430821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Imagem 13">
            <a:extLst>
              <a:ext uri="{FF2B5EF4-FFF2-40B4-BE49-F238E27FC236}">
                <a16:creationId xmlns:a16="http://schemas.microsoft.com/office/drawing/2014/main" id="{08C7EB2F-7531-5DD0-5459-552BDFEDA16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9143" y="1801187"/>
            <a:ext cx="4736429" cy="347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673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F4323-B740-3DA1-9F7B-6281148F7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2E8ED6BA-B068-70BE-E02D-103EB640F4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701" cy="6858000"/>
          </a:xfr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8914D5F-4705-24C9-2833-6067A3302C58}"/>
              </a:ext>
            </a:extLst>
          </p:cNvPr>
          <p:cNvSpPr txBox="1"/>
          <p:nvPr/>
        </p:nvSpPr>
        <p:spPr>
          <a:xfrm>
            <a:off x="888433" y="1183154"/>
            <a:ext cx="7014356" cy="6709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760" b="1" dirty="0">
                <a:solidFill>
                  <a:srgbClr val="3B3B3B"/>
                </a:solidFill>
                <a:latin typeface="Helvetica World Bold"/>
                <a:ea typeface="Yu Gothic Light" panose="020B0300000000000000" pitchFamily="34" charset="-128"/>
              </a:rPr>
              <a:t>MORPHOLOGICAL ES TYPES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AEDBE47-F07D-8435-D095-928E467485D0}"/>
              </a:ext>
            </a:extLst>
          </p:cNvPr>
          <p:cNvSpPr txBox="1"/>
          <p:nvPr/>
        </p:nvSpPr>
        <p:spPr>
          <a:xfrm>
            <a:off x="888433" y="5342654"/>
            <a:ext cx="10620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 err="1"/>
              <a:t>height</a:t>
            </a:r>
            <a:r>
              <a:rPr lang="pt-BR" b="1" dirty="0"/>
              <a:t> (</a:t>
            </a:r>
            <a:r>
              <a:rPr lang="pt-BR" b="1" dirty="0" err="1"/>
              <a:t>Esh</a:t>
            </a:r>
            <a:r>
              <a:rPr lang="pt-BR" b="1" dirty="0"/>
              <a:t>): </a:t>
            </a:r>
            <a:r>
              <a:rPr lang="en-US" dirty="0"/>
              <a:t>located at higher altitudes, generally between 120 and 140 km. These layers may present flat traces or asymmetrical cusps.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26857AE-F806-6E84-58CC-495A48266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94" y="1934966"/>
            <a:ext cx="4915098" cy="326765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CBDF55B-D50F-CDD6-1A62-F7BCD941D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6010" y="1873907"/>
            <a:ext cx="4745291" cy="346874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851A67AB-2E99-885B-DC85-C55BE541E528}"/>
                  </a:ext>
                </a:extLst>
              </p14:cNvPr>
              <p14:cNvContentPartPr/>
              <p14:nvPr/>
            </p14:nvContentPartPr>
            <p14:xfrm>
              <a:off x="5755113" y="1757110"/>
              <a:ext cx="130680" cy="138960"/>
            </p14:xfrm>
          </p:contentPart>
        </mc:Choice>
        <mc:Fallback xmlns=""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851A67AB-2E99-885B-DC85-C55BE541E52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48993" y="1750990"/>
                <a:ext cx="14292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2ADDF27A-B116-C3C4-765C-2E22AD7D79A1}"/>
                  </a:ext>
                </a:extLst>
              </p14:cNvPr>
              <p14:cNvContentPartPr/>
              <p14:nvPr/>
            </p14:nvContentPartPr>
            <p14:xfrm>
              <a:off x="5846646" y="1768686"/>
              <a:ext cx="337320" cy="29700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2ADDF27A-B116-C3C4-765C-2E22AD7D79A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40526" y="1762566"/>
                <a:ext cx="34956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3FFC805B-171F-5187-E0A8-222881EB7517}"/>
                  </a:ext>
                </a:extLst>
              </p14:cNvPr>
              <p14:cNvContentPartPr/>
              <p14:nvPr/>
            </p14:nvContentPartPr>
            <p14:xfrm>
              <a:off x="5781486" y="1706046"/>
              <a:ext cx="270720" cy="339840"/>
            </p14:xfrm>
          </p:contentPart>
        </mc:Choice>
        <mc:Fallback xmlns=""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3FFC805B-171F-5187-E0A8-222881EB751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775366" y="1699926"/>
                <a:ext cx="282960" cy="35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0351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BE32B-6CD7-7969-DD1C-B253D7F45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03E63011-9A10-9BAC-9345-DA6A9051B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701" cy="6858000"/>
          </a:xfr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FE1DB4-02B8-D774-46A2-FFB200F20BCA}"/>
              </a:ext>
            </a:extLst>
          </p:cNvPr>
          <p:cNvSpPr txBox="1"/>
          <p:nvPr/>
        </p:nvSpPr>
        <p:spPr>
          <a:xfrm>
            <a:off x="778674" y="1179869"/>
            <a:ext cx="7014356" cy="6709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760" b="1" dirty="0">
                <a:solidFill>
                  <a:srgbClr val="3B3B3B"/>
                </a:solidFill>
                <a:latin typeface="Helvetica World Bold"/>
                <a:ea typeface="Yu Gothic Light" panose="020B0300000000000000" pitchFamily="34" charset="-128"/>
              </a:rPr>
              <a:t>MORPHOLOGICAL ES TYPES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B2A9636-F7EA-2459-05F1-0C615A130FCF}"/>
              </a:ext>
            </a:extLst>
          </p:cNvPr>
          <p:cNvSpPr txBox="1"/>
          <p:nvPr/>
        </p:nvSpPr>
        <p:spPr>
          <a:xfrm>
            <a:off x="888433" y="5342654"/>
            <a:ext cx="10620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 err="1"/>
              <a:t>slant</a:t>
            </a:r>
            <a:r>
              <a:rPr lang="pt-BR" b="1" dirty="0"/>
              <a:t> (</a:t>
            </a:r>
            <a:r>
              <a:rPr lang="pt-BR" b="1" dirty="0" err="1"/>
              <a:t>Ess</a:t>
            </a:r>
            <a:r>
              <a:rPr lang="pt-BR" b="1" dirty="0"/>
              <a:t>): </a:t>
            </a:r>
            <a:r>
              <a:rPr lang="en-US" dirty="0"/>
              <a:t>present an inclined trace, in which the height increases constantly with frequency. This type generally arises from the evolution of other sporadic layers.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1257F22-7025-6E4F-E3A8-9F8E88FD5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746" y="2074991"/>
            <a:ext cx="5088811" cy="317737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097A3EE-F978-482F-A0E5-F4D67F5F3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761" y="1873906"/>
            <a:ext cx="4734518" cy="346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418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7E9CB-DC4B-E4AA-27E4-9A550A2C3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991033F4-6CB9-3D23-5926-C366779E38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701" cy="6858000"/>
          </a:xfr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365EE25-B72E-BAE8-0DAE-3D35E1D6F2E6}"/>
              </a:ext>
            </a:extLst>
          </p:cNvPr>
          <p:cNvSpPr txBox="1"/>
          <p:nvPr/>
        </p:nvSpPr>
        <p:spPr>
          <a:xfrm>
            <a:off x="979715" y="1405513"/>
            <a:ext cx="7135992" cy="6709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760" b="1" dirty="0">
                <a:solidFill>
                  <a:srgbClr val="3B3B3B"/>
                </a:solidFill>
                <a:latin typeface="Helvetica World Bold"/>
                <a:ea typeface="Yu Gothic Light" panose="020B0300000000000000" pitchFamily="34" charset="-128"/>
              </a:rPr>
              <a:t>VOLUME OF DATA ANALYZED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3D5262C-0366-D4A1-8E78-576E74E3CAAB}"/>
              </a:ext>
            </a:extLst>
          </p:cNvPr>
          <p:cNvSpPr txBox="1"/>
          <p:nvPr/>
        </p:nvSpPr>
        <p:spPr>
          <a:xfrm>
            <a:off x="979715" y="2237536"/>
            <a:ext cx="104172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78 events of moderate to super-intense intensity.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205 days of ionospheric data analyzed.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23,399 occurrences of sporadic E layers recorded.</a:t>
            </a:r>
          </a:p>
          <a:p>
            <a:r>
              <a:rPr lang="en-US" dirty="0"/>
              <a:t>The table shows the distribution of reduced days for each year.</a:t>
            </a:r>
          </a:p>
          <a:p>
            <a:pPr algn="just"/>
            <a:r>
              <a:rPr lang="en-US" dirty="0"/>
              <a:t>Data organization and processing were performed using custom Python scripts, automating occurrence counting and rate calculations for each layer type under various conditions.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B138F7C-F7C8-0029-EAB8-A285A496C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340" y="4152932"/>
            <a:ext cx="8345320" cy="192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47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0F01F-415C-291A-96F7-F3682CBA8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4AD018A1-414E-6341-18F7-CD7D144CFD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701" cy="6858000"/>
          </a:xfr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D34510D-1B9A-7127-698E-C554E5D30584}"/>
              </a:ext>
            </a:extLst>
          </p:cNvPr>
          <p:cNvSpPr txBox="1"/>
          <p:nvPr/>
        </p:nvSpPr>
        <p:spPr>
          <a:xfrm>
            <a:off x="4150595" y="1643886"/>
            <a:ext cx="389080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>
                <a:latin typeface="Yu Gothic Light" panose="020B0300000000000000" pitchFamily="34" charset="-128"/>
                <a:ea typeface="Yu Gothic Light" panose="020B0300000000000000" pitchFamily="34" charset="-128"/>
              </a:rPr>
              <a:t>GEOMAGNETIC STORMS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A837F10-B4F0-7FC7-74F8-315CC34F7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046" y="2673832"/>
            <a:ext cx="9092906" cy="272750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D449ADFB-9B2A-446A-53DA-5122B7F423E7}"/>
                  </a:ext>
                </a:extLst>
              </p14:cNvPr>
              <p14:cNvContentPartPr/>
              <p14:nvPr/>
            </p14:nvContentPartPr>
            <p14:xfrm>
              <a:off x="1633077" y="1926712"/>
              <a:ext cx="754200" cy="372960"/>
            </p14:xfrm>
          </p:contentPart>
        </mc:Choice>
        <mc:Fallback xmlns=""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D449ADFB-9B2A-446A-53DA-5122B7F423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26957" y="1920592"/>
                <a:ext cx="766440" cy="385200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Imagem 15">
            <a:extLst>
              <a:ext uri="{FF2B5EF4-FFF2-40B4-BE49-F238E27FC236}">
                <a16:creationId xmlns:a16="http://schemas.microsoft.com/office/drawing/2014/main" id="{B298929D-3741-C71B-1D33-112B4B2206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362" y="2288015"/>
            <a:ext cx="1581371" cy="771633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12CD6639-9A0B-51B2-BCC4-4CFD6C7E43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2542863"/>
            <a:ext cx="891205" cy="43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6152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EB8FB-A2C2-F61C-0667-134F620AB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C778980E-EBD6-E3DC-1916-2427890409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701" cy="6858000"/>
          </a:xfr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6A660F4-2311-2D0F-9FD7-681C86102E34}"/>
              </a:ext>
            </a:extLst>
          </p:cNvPr>
          <p:cNvSpPr txBox="1"/>
          <p:nvPr/>
        </p:nvSpPr>
        <p:spPr>
          <a:xfrm>
            <a:off x="4200137" y="1348707"/>
            <a:ext cx="379142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>
                <a:latin typeface="Yu Gothic Light" panose="020B0300000000000000" pitchFamily="34" charset="-128"/>
                <a:ea typeface="Yu Gothic Light" panose="020B0300000000000000" pitchFamily="34" charset="-128"/>
              </a:rPr>
              <a:t>INTENSITY AND DRIVER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44A706B-96C4-20C0-A734-9EB502DD5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6" b="14982"/>
          <a:stretch>
            <a:fillRect/>
          </a:stretch>
        </p:blipFill>
        <p:spPr>
          <a:xfrm>
            <a:off x="422031" y="1825761"/>
            <a:ext cx="5889430" cy="376892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F988D16-874E-5B4D-971C-B782B68A98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165"/>
          <a:stretch>
            <a:fillRect/>
          </a:stretch>
        </p:blipFill>
        <p:spPr>
          <a:xfrm>
            <a:off x="6311461" y="1825761"/>
            <a:ext cx="5183141" cy="376892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9210B65-1886-76FB-3C41-CCB3AAD7D4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07"/>
          <a:stretch>
            <a:fillRect/>
          </a:stretch>
        </p:blipFill>
        <p:spPr>
          <a:xfrm>
            <a:off x="3553399" y="5377036"/>
            <a:ext cx="5516123" cy="69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6116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BC145-5834-AEF4-5FDC-258F44E9F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2653BDCA-A7E4-8E50-E800-08B003B05E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701" cy="6858000"/>
          </a:xfr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3B4AEA9-6383-CD33-9E12-399C13B25474}"/>
              </a:ext>
            </a:extLst>
          </p:cNvPr>
          <p:cNvSpPr txBox="1"/>
          <p:nvPr/>
        </p:nvSpPr>
        <p:spPr>
          <a:xfrm>
            <a:off x="3354584" y="1378072"/>
            <a:ext cx="468750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>
                <a:latin typeface="Yu Gothic Light" panose="020B0300000000000000" pitchFamily="34" charset="-128"/>
                <a:ea typeface="Yu Gothic Light" panose="020B0300000000000000" pitchFamily="34" charset="-128"/>
              </a:rPr>
              <a:t>GENERAL TYPE DISTRIBUTION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C754F1D-2E43-5682-BAA9-516E5B4273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30"/>
          <a:stretch>
            <a:fillRect/>
          </a:stretch>
        </p:blipFill>
        <p:spPr>
          <a:xfrm>
            <a:off x="1301335" y="1987419"/>
            <a:ext cx="9204369" cy="426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5860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D5CC9-3253-B297-A2A6-165A7FE55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FBD83266-0A25-F68E-CDE9-9320C7C30B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701" cy="6858000"/>
          </a:xfr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DF8E869-83D0-E866-9E67-10AB5E71C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5132" y="1510294"/>
            <a:ext cx="5861735" cy="454516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0E74F47-0075-F639-F812-C67418ADFF37}"/>
              </a:ext>
            </a:extLst>
          </p:cNvPr>
          <p:cNvSpPr txBox="1"/>
          <p:nvPr/>
        </p:nvSpPr>
        <p:spPr>
          <a:xfrm>
            <a:off x="4811683" y="1271767"/>
            <a:ext cx="256833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>
                <a:latin typeface="Yu Gothic Light" panose="020B0300000000000000" pitchFamily="34" charset="-128"/>
                <a:ea typeface="Yu Gothic Light" panose="020B0300000000000000" pitchFamily="34" charset="-128"/>
              </a:rPr>
              <a:t>STORM PHASES</a:t>
            </a:r>
          </a:p>
        </p:txBody>
      </p:sp>
    </p:spTree>
    <p:extLst>
      <p:ext uri="{BB962C8B-B14F-4D97-AF65-F5344CB8AC3E}">
        <p14:creationId xmlns:p14="http://schemas.microsoft.com/office/powerpoint/2010/main" val="214088467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6DEF4-D77B-1BFA-5AE0-D63D246AC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D600884B-F915-9F06-004C-820AE3A11F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701" cy="6858000"/>
          </a:xfr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A5F0BE7-B872-0B30-6D02-6E86B8F91F1A}"/>
              </a:ext>
            </a:extLst>
          </p:cNvPr>
          <p:cNvSpPr txBox="1"/>
          <p:nvPr/>
        </p:nvSpPr>
        <p:spPr>
          <a:xfrm>
            <a:off x="4675428" y="1508534"/>
            <a:ext cx="284084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>
                <a:latin typeface="Yu Gothic Light" panose="020B0300000000000000" pitchFamily="34" charset="-128"/>
                <a:ea typeface="Yu Gothic Light" panose="020B0300000000000000" pitchFamily="34" charset="-128"/>
              </a:rPr>
              <a:t>TIME OF THE DAY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138DD94-EB2E-0278-7BAF-8DDF088D3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248" y="1910174"/>
            <a:ext cx="6833503" cy="430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81279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F40E7-D8E8-715B-D900-6237BCFA2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A24A06EF-7B64-4549-17E6-84CC427B07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701" cy="6858000"/>
          </a:xfr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B0BA954-38F3-D5B1-3D13-D1661F028279}"/>
              </a:ext>
            </a:extLst>
          </p:cNvPr>
          <p:cNvSpPr txBox="1"/>
          <p:nvPr/>
        </p:nvSpPr>
        <p:spPr>
          <a:xfrm>
            <a:off x="5298194" y="1334308"/>
            <a:ext cx="159530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>
                <a:latin typeface="Yu Gothic Light" panose="020B0300000000000000" pitchFamily="34" charset="-128"/>
                <a:ea typeface="Yu Gothic Light" panose="020B0300000000000000" pitchFamily="34" charset="-128"/>
              </a:rPr>
              <a:t>SEASONS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7D4AA32-B8E4-2568-9CC1-7985FC7913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994" b="4019"/>
          <a:stretch>
            <a:fillRect/>
          </a:stretch>
        </p:blipFill>
        <p:spPr>
          <a:xfrm>
            <a:off x="2814341" y="1670476"/>
            <a:ext cx="6609995" cy="407238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38F0600-7E72-E448-DAC4-69D81A0EF4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835" y="5840497"/>
            <a:ext cx="3497572" cy="50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09798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31817-D54A-EAE0-A51E-B947B6C40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33523E0B-B29D-9BD2-5402-25FB5D9237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" y="0"/>
            <a:ext cx="12191701" cy="6858000"/>
          </a:xfr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21277E0-F3EC-FDF5-8D15-33649D339EC1}"/>
              </a:ext>
            </a:extLst>
          </p:cNvPr>
          <p:cNvSpPr txBox="1"/>
          <p:nvPr/>
        </p:nvSpPr>
        <p:spPr>
          <a:xfrm>
            <a:off x="965043" y="1005097"/>
            <a:ext cx="3389198" cy="6709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760" b="1" dirty="0">
                <a:solidFill>
                  <a:srgbClr val="3B3B3B"/>
                </a:solidFill>
              </a:rPr>
              <a:t>PRESENT STUDY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E5E0B6B-1612-1E7F-9FE1-E787DDE6F1A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063" y="1572730"/>
            <a:ext cx="5296556" cy="185627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8C9D7AD-F944-9020-83CD-DBF2C7CCB4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062" y="3272725"/>
            <a:ext cx="5296557" cy="185627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323F5DA-CDAA-D68A-E386-F2FBCDD9C5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3982" y="5001731"/>
            <a:ext cx="5017637" cy="172394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60CD852C-AE55-3103-174C-F60A958B5280}"/>
              </a:ext>
            </a:extLst>
          </p:cNvPr>
          <p:cNvSpPr txBox="1"/>
          <p:nvPr/>
        </p:nvSpPr>
        <p:spPr>
          <a:xfrm>
            <a:off x="965043" y="1676050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Yu Gothic Light" panose="020B0300000000000000" pitchFamily="34" charset="-128"/>
                <a:ea typeface="Yu Gothic Light" panose="020B0300000000000000" pitchFamily="34" charset="-128"/>
              </a:rPr>
              <a:t>Strong ICME </a:t>
            </a:r>
          </a:p>
        </p:txBody>
      </p:sp>
    </p:spTree>
    <p:extLst>
      <p:ext uri="{BB962C8B-B14F-4D97-AF65-F5344CB8AC3E}">
        <p14:creationId xmlns:p14="http://schemas.microsoft.com/office/powerpoint/2010/main" val="38618372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EE74F-629C-C25E-B020-6FAAC225E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C983E0E8-2FE6-9BF6-0EB6-C0C815773B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" y="0"/>
            <a:ext cx="12191701" cy="6858000"/>
          </a:xfr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2D35C82-52A0-3F73-7F8E-B9F9D57AC128}"/>
              </a:ext>
            </a:extLst>
          </p:cNvPr>
          <p:cNvSpPr txBox="1"/>
          <p:nvPr/>
        </p:nvSpPr>
        <p:spPr>
          <a:xfrm>
            <a:off x="979286" y="1329425"/>
            <a:ext cx="4986045" cy="6709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760" b="1" dirty="0">
                <a:solidFill>
                  <a:srgbClr val="3B3B3B"/>
                </a:solidFill>
              </a:rPr>
              <a:t>CONCLUDING REMARKS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CF51546-9759-AF3C-DB32-D3E9632852C3}"/>
              </a:ext>
            </a:extLst>
          </p:cNvPr>
          <p:cNvSpPr txBox="1"/>
          <p:nvPr/>
        </p:nvSpPr>
        <p:spPr>
          <a:xfrm>
            <a:off x="979287" y="2000378"/>
            <a:ext cx="102334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err="1"/>
              <a:t>Complexity</a:t>
            </a:r>
            <a:r>
              <a:rPr lang="pt-BR" dirty="0"/>
              <a:t>: Es </a:t>
            </a:r>
            <a:r>
              <a:rPr lang="pt-BR" dirty="0" err="1"/>
              <a:t>layes</a:t>
            </a:r>
            <a:r>
              <a:rPr lang="pt-BR" dirty="0"/>
              <a:t> </a:t>
            </a:r>
            <a:r>
              <a:rPr lang="pt-BR" dirty="0" err="1"/>
              <a:t>behavior</a:t>
            </a:r>
            <a:r>
              <a:rPr lang="pt-BR" dirty="0"/>
              <a:t> </a:t>
            </a:r>
            <a:r>
              <a:rPr lang="pt-BR" dirty="0" err="1"/>
              <a:t>during</a:t>
            </a:r>
            <a:r>
              <a:rPr lang="pt-BR" dirty="0"/>
              <a:t> </a:t>
            </a:r>
            <a:r>
              <a:rPr lang="pt-BR" dirty="0" err="1"/>
              <a:t>disturbances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complex</a:t>
            </a:r>
            <a:r>
              <a:rPr lang="pt-BR" dirty="0"/>
              <a:t>, non-linear,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driven</a:t>
            </a:r>
            <a:r>
              <a:rPr lang="pt-BR" dirty="0"/>
              <a:t> </a:t>
            </a:r>
            <a:r>
              <a:rPr lang="pt-BR" dirty="0" err="1"/>
              <a:t>by</a:t>
            </a:r>
            <a:r>
              <a:rPr lang="pt-BR" dirty="0"/>
              <a:t> </a:t>
            </a:r>
            <a:r>
              <a:rPr lang="pt-BR" dirty="0" err="1"/>
              <a:t>multiple</a:t>
            </a:r>
            <a:r>
              <a:rPr lang="pt-BR" dirty="0"/>
              <a:t> </a:t>
            </a:r>
            <a:r>
              <a:rPr lang="pt-BR" dirty="0" err="1"/>
              <a:t>geophysical</a:t>
            </a:r>
            <a:r>
              <a:rPr lang="pt-BR" dirty="0"/>
              <a:t> </a:t>
            </a:r>
            <a:r>
              <a:rPr lang="pt-BR" dirty="0" err="1"/>
              <a:t>factors</a:t>
            </a:r>
            <a:r>
              <a:rPr lang="pt-BR" dirty="0"/>
              <a:t>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err="1"/>
              <a:t>Predominance</a:t>
            </a:r>
            <a:r>
              <a:rPr lang="pt-BR" dirty="0"/>
              <a:t>: Flat (</a:t>
            </a:r>
            <a:r>
              <a:rPr lang="pt-BR" dirty="0" err="1"/>
              <a:t>Esf</a:t>
            </a:r>
            <a:r>
              <a:rPr lang="pt-BR" dirty="0"/>
              <a:t>)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low</a:t>
            </a:r>
            <a:r>
              <a:rPr lang="pt-BR" dirty="0"/>
              <a:t> (</a:t>
            </a:r>
            <a:r>
              <a:rPr lang="pt-BR" dirty="0" err="1"/>
              <a:t>Esl</a:t>
            </a:r>
            <a:r>
              <a:rPr lang="pt-BR" dirty="0"/>
              <a:t>) </a:t>
            </a:r>
            <a:r>
              <a:rPr lang="pt-BR" dirty="0" err="1"/>
              <a:t>morphological</a:t>
            </a:r>
            <a:r>
              <a:rPr lang="pt-BR" dirty="0"/>
              <a:t> </a:t>
            </a:r>
            <a:r>
              <a:rPr lang="pt-BR" dirty="0" err="1"/>
              <a:t>types</a:t>
            </a:r>
            <a:r>
              <a:rPr lang="pt-BR" dirty="0"/>
              <a:t> </a:t>
            </a:r>
            <a:r>
              <a:rPr lang="pt-BR" dirty="0" err="1"/>
              <a:t>dominate</a:t>
            </a:r>
            <a:r>
              <a:rPr lang="pt-BR" dirty="0"/>
              <a:t> </a:t>
            </a:r>
            <a:r>
              <a:rPr lang="pt-BR" dirty="0" err="1"/>
              <a:t>across</a:t>
            </a:r>
            <a:r>
              <a:rPr lang="pt-BR" dirty="0"/>
              <a:t>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analyzed</a:t>
            </a:r>
            <a:r>
              <a:rPr lang="pt-BR" dirty="0"/>
              <a:t> </a:t>
            </a:r>
            <a:r>
              <a:rPr lang="pt-BR" dirty="0" err="1"/>
              <a:t>storm</a:t>
            </a:r>
            <a:r>
              <a:rPr lang="pt-BR" dirty="0"/>
              <a:t> </a:t>
            </a:r>
            <a:r>
              <a:rPr lang="pt-BR" dirty="0" err="1"/>
              <a:t>scnenarios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interplanetary</a:t>
            </a:r>
            <a:r>
              <a:rPr lang="pt-BR" dirty="0"/>
              <a:t> drivers;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Recovery Phase: </a:t>
            </a:r>
            <a:r>
              <a:rPr lang="pt-BR" dirty="0" err="1"/>
              <a:t>Exhibits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highest</a:t>
            </a:r>
            <a:r>
              <a:rPr lang="pt-BR" dirty="0"/>
              <a:t> volume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occurrences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greatest</a:t>
            </a:r>
            <a:r>
              <a:rPr lang="pt-BR" dirty="0"/>
              <a:t> </a:t>
            </a:r>
            <a:r>
              <a:rPr lang="pt-BR" dirty="0" err="1"/>
              <a:t>morphological</a:t>
            </a:r>
            <a:r>
              <a:rPr lang="pt-BR" dirty="0"/>
              <a:t> </a:t>
            </a:r>
            <a:r>
              <a:rPr lang="pt-BR" dirty="0" err="1"/>
              <a:t>variability</a:t>
            </a:r>
            <a:r>
              <a:rPr lang="pt-BR" dirty="0"/>
              <a:t>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err="1"/>
              <a:t>Diurnal</a:t>
            </a:r>
            <a:r>
              <a:rPr lang="pt-BR" dirty="0"/>
              <a:t> </a:t>
            </a:r>
            <a:r>
              <a:rPr lang="pt-BR" dirty="0" err="1"/>
              <a:t>Variation</a:t>
            </a:r>
            <a:r>
              <a:rPr lang="pt-BR" dirty="0"/>
              <a:t>: </a:t>
            </a:r>
            <a:r>
              <a:rPr lang="pt-BR" dirty="0" err="1"/>
              <a:t>Highest</a:t>
            </a:r>
            <a:r>
              <a:rPr lang="pt-BR" dirty="0"/>
              <a:t> </a:t>
            </a:r>
            <a:r>
              <a:rPr lang="pt-BR" dirty="0" err="1"/>
              <a:t>occurrence</a:t>
            </a:r>
            <a:r>
              <a:rPr lang="pt-BR" dirty="0"/>
              <a:t> rate </a:t>
            </a:r>
            <a:r>
              <a:rPr lang="pt-BR" dirty="0" err="1"/>
              <a:t>recorded</a:t>
            </a:r>
            <a:r>
              <a:rPr lang="pt-BR" dirty="0"/>
              <a:t> </a:t>
            </a:r>
            <a:r>
              <a:rPr lang="pt-BR" dirty="0" err="1"/>
              <a:t>during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day</a:t>
            </a:r>
            <a:r>
              <a:rPr lang="pt-BR" dirty="0"/>
              <a:t> (</a:t>
            </a:r>
            <a:r>
              <a:rPr lang="pt-BR" dirty="0" err="1"/>
              <a:t>Low</a:t>
            </a:r>
            <a:r>
              <a:rPr lang="pt-BR" dirty="0"/>
              <a:t> </a:t>
            </a:r>
            <a:r>
              <a:rPr lang="pt-BR" dirty="0" err="1"/>
              <a:t>type</a:t>
            </a:r>
            <a:r>
              <a:rPr lang="pt-BR" dirty="0"/>
              <a:t> </a:t>
            </a:r>
            <a:r>
              <a:rPr lang="pt-BR" dirty="0" err="1"/>
              <a:t>during</a:t>
            </a:r>
            <a:r>
              <a:rPr lang="pt-BR" dirty="0"/>
              <a:t> </a:t>
            </a:r>
            <a:r>
              <a:rPr lang="pt-BR" dirty="0" err="1"/>
              <a:t>daytime</a:t>
            </a:r>
            <a:r>
              <a:rPr lang="pt-BR" dirty="0"/>
              <a:t>, Flat </a:t>
            </a:r>
            <a:r>
              <a:rPr lang="pt-BR" dirty="0" err="1"/>
              <a:t>type</a:t>
            </a:r>
            <a:r>
              <a:rPr lang="pt-BR" dirty="0"/>
              <a:t> </a:t>
            </a:r>
            <a:r>
              <a:rPr lang="pt-BR" dirty="0" err="1"/>
              <a:t>at</a:t>
            </a:r>
            <a:r>
              <a:rPr lang="pt-BR" dirty="0"/>
              <a:t> </a:t>
            </a:r>
            <a:r>
              <a:rPr lang="pt-BR" dirty="0" err="1"/>
              <a:t>night</a:t>
            </a:r>
            <a:r>
              <a:rPr lang="pt-BR" dirty="0"/>
              <a:t>);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Solar </a:t>
            </a:r>
            <a:r>
              <a:rPr lang="pt-BR" dirty="0" err="1"/>
              <a:t>Influence</a:t>
            </a:r>
            <a:r>
              <a:rPr lang="pt-BR" dirty="0"/>
              <a:t>: F10.7 solar flux </a:t>
            </a:r>
            <a:r>
              <a:rPr lang="pt-BR" dirty="0" err="1"/>
              <a:t>directly</a:t>
            </a:r>
            <a:r>
              <a:rPr lang="pt-BR" dirty="0"/>
              <a:t> correlates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annual</a:t>
            </a:r>
            <a:r>
              <a:rPr lang="pt-BR" dirty="0"/>
              <a:t> </a:t>
            </a:r>
            <a:r>
              <a:rPr lang="pt-BR" dirty="0" err="1"/>
              <a:t>occurrence</a:t>
            </a:r>
            <a:r>
              <a:rPr lang="pt-BR" dirty="0"/>
              <a:t>, </a:t>
            </a:r>
            <a:r>
              <a:rPr lang="pt-BR" dirty="0" err="1"/>
              <a:t>confirming</a:t>
            </a:r>
            <a:r>
              <a:rPr lang="pt-BR" dirty="0"/>
              <a:t> solar </a:t>
            </a:r>
            <a:r>
              <a:rPr lang="pt-BR" dirty="0" err="1"/>
              <a:t>activity</a:t>
            </a:r>
            <a:r>
              <a:rPr lang="pt-BR" dirty="0"/>
              <a:t> as a </a:t>
            </a:r>
            <a:r>
              <a:rPr lang="pt-BR" dirty="0" err="1"/>
              <a:t>key</a:t>
            </a:r>
            <a:r>
              <a:rPr lang="pt-BR" dirty="0"/>
              <a:t> </a:t>
            </a:r>
            <a:r>
              <a:rPr lang="pt-BR" dirty="0" err="1"/>
              <a:t>ionospheric</a:t>
            </a:r>
            <a:r>
              <a:rPr lang="pt-BR" dirty="0"/>
              <a:t> driver;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err="1"/>
              <a:t>Physical</a:t>
            </a:r>
            <a:r>
              <a:rPr lang="pt-BR" dirty="0"/>
              <a:t> </a:t>
            </a:r>
            <a:r>
              <a:rPr lang="pt-BR" dirty="0" err="1"/>
              <a:t>Mechanisms</a:t>
            </a:r>
            <a:r>
              <a:rPr lang="pt-BR" dirty="0"/>
              <a:t>: </a:t>
            </a:r>
            <a:r>
              <a:rPr lang="pt-BR" dirty="0" err="1"/>
              <a:t>Results</a:t>
            </a:r>
            <a:r>
              <a:rPr lang="pt-BR" dirty="0"/>
              <a:t> </a:t>
            </a:r>
            <a:r>
              <a:rPr lang="pt-BR" dirty="0" err="1"/>
              <a:t>reinforce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additional</a:t>
            </a:r>
            <a:r>
              <a:rPr lang="pt-BR" dirty="0"/>
              <a:t> </a:t>
            </a:r>
            <a:r>
              <a:rPr lang="pt-BR" dirty="0" err="1"/>
              <a:t>mechanisms</a:t>
            </a:r>
            <a:r>
              <a:rPr lang="pt-BR" dirty="0"/>
              <a:t> </a:t>
            </a:r>
            <a:r>
              <a:rPr lang="pt-BR" dirty="0" err="1"/>
              <a:t>operate</a:t>
            </a:r>
            <a:r>
              <a:rPr lang="pt-BR" dirty="0"/>
              <a:t> </a:t>
            </a:r>
            <a:r>
              <a:rPr lang="pt-BR" dirty="0" err="1"/>
              <a:t>during</a:t>
            </a:r>
            <a:r>
              <a:rPr lang="pt-BR" dirty="0"/>
              <a:t> </a:t>
            </a:r>
            <a:r>
              <a:rPr lang="pt-BR" dirty="0" err="1"/>
              <a:t>disturbed</a:t>
            </a:r>
            <a:r>
              <a:rPr lang="pt-BR" dirty="0"/>
              <a:t> </a:t>
            </a:r>
            <a:r>
              <a:rPr lang="pt-BR" dirty="0" err="1"/>
              <a:t>periods</a:t>
            </a:r>
            <a:r>
              <a:rPr lang="pt-BR" dirty="0"/>
              <a:t>, </a:t>
            </a:r>
            <a:r>
              <a:rPr lang="pt-BR" dirty="0" err="1"/>
              <a:t>extending</a:t>
            </a:r>
            <a:r>
              <a:rPr lang="pt-BR" dirty="0"/>
              <a:t> </a:t>
            </a:r>
            <a:r>
              <a:rPr lang="pt-BR" dirty="0" err="1"/>
              <a:t>beyond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classic</a:t>
            </a:r>
            <a:r>
              <a:rPr lang="pt-BR" dirty="0"/>
              <a:t> neutral </a:t>
            </a:r>
            <a:r>
              <a:rPr lang="pt-BR" dirty="0" err="1"/>
              <a:t>wind</a:t>
            </a:r>
            <a:r>
              <a:rPr lang="pt-BR" dirty="0"/>
              <a:t> </a:t>
            </a:r>
            <a:r>
              <a:rPr lang="pt-BR" dirty="0" err="1"/>
              <a:t>shear</a:t>
            </a:r>
            <a:r>
              <a:rPr lang="pt-BR" dirty="0"/>
              <a:t> </a:t>
            </a:r>
            <a:r>
              <a:rPr lang="pt-BR" dirty="0" err="1"/>
              <a:t>theory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54206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40B7B-2082-C1E8-EA57-29A6B5766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estrela no meio&#10;&#10;O conteúdo gerado por IA pode estar incorreto.">
            <a:extLst>
              <a:ext uri="{FF2B5EF4-FFF2-40B4-BE49-F238E27FC236}">
                <a16:creationId xmlns:a16="http://schemas.microsoft.com/office/drawing/2014/main" id="{8FD5E654-52B1-3A5E-55B2-98E52D5987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" y="0"/>
            <a:ext cx="12189013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1B5453C-5065-FCE9-CCF1-2B2D71C457A9}"/>
              </a:ext>
            </a:extLst>
          </p:cNvPr>
          <p:cNvSpPr txBox="1"/>
          <p:nvPr/>
        </p:nvSpPr>
        <p:spPr>
          <a:xfrm>
            <a:off x="2483212" y="2559365"/>
            <a:ext cx="7225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CFD03DD-F5D3-F829-8DD3-AADBEE58E8C2}"/>
              </a:ext>
            </a:extLst>
          </p:cNvPr>
          <p:cNvSpPr txBox="1"/>
          <p:nvPr/>
        </p:nvSpPr>
        <p:spPr>
          <a:xfrm>
            <a:off x="2689902" y="3440170"/>
            <a:ext cx="68121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i="1" dirty="0" err="1">
                <a:solidFill>
                  <a:schemeClr val="bg1"/>
                </a:solidFill>
              </a:rPr>
              <a:t>To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my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advisors</a:t>
            </a:r>
            <a:r>
              <a:rPr lang="pt-BR" b="1" i="1" dirty="0">
                <a:solidFill>
                  <a:schemeClr val="bg1"/>
                </a:solidFill>
              </a:rPr>
              <a:t>, Marcio </a:t>
            </a:r>
            <a:r>
              <a:rPr lang="pt-BR" b="1" i="1" dirty="0" err="1">
                <a:solidFill>
                  <a:schemeClr val="bg1"/>
                </a:solidFill>
              </a:rPr>
              <a:t>Muella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and</a:t>
            </a:r>
            <a:r>
              <a:rPr lang="pt-BR" b="1" i="1" dirty="0">
                <a:solidFill>
                  <a:schemeClr val="bg1"/>
                </a:solidFill>
              </a:rPr>
              <a:t> Paulo R. Fagundes,</a:t>
            </a:r>
          </a:p>
          <a:p>
            <a:pPr algn="ctr"/>
            <a:r>
              <a:rPr lang="pt-BR" b="1" i="1" dirty="0" err="1">
                <a:solidFill>
                  <a:schemeClr val="bg1"/>
                </a:solidFill>
              </a:rPr>
              <a:t>the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professors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at</a:t>
            </a:r>
            <a:r>
              <a:rPr lang="pt-BR" b="1" i="1" dirty="0">
                <a:solidFill>
                  <a:schemeClr val="bg1"/>
                </a:solidFill>
              </a:rPr>
              <a:t> IP&amp;D, </a:t>
            </a:r>
            <a:r>
              <a:rPr lang="pt-BR" b="1" i="1" dirty="0" err="1">
                <a:solidFill>
                  <a:schemeClr val="bg1"/>
                </a:solidFill>
              </a:rPr>
              <a:t>my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colleagues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and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to</a:t>
            </a:r>
            <a:r>
              <a:rPr lang="pt-BR" b="1" i="1" dirty="0">
                <a:solidFill>
                  <a:schemeClr val="bg1"/>
                </a:solidFill>
              </a:rPr>
              <a:t> FAPESP (</a:t>
            </a:r>
            <a:r>
              <a:rPr lang="pt-BR" i="1" dirty="0">
                <a:solidFill>
                  <a:schemeClr val="bg1"/>
                </a:solidFill>
              </a:rPr>
              <a:t>2024/07329-2)</a:t>
            </a:r>
            <a:r>
              <a:rPr lang="pt-BR" b="1" i="1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63078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Padrão do plano de fundo&#10;&#10;O conteúdo gerado por IA pode estar incorreto.">
            <a:extLst>
              <a:ext uri="{FF2B5EF4-FFF2-40B4-BE49-F238E27FC236}">
                <a16:creationId xmlns:a16="http://schemas.microsoft.com/office/drawing/2014/main" id="{E7B839B7-9576-9225-0623-5830D9B103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" y="0"/>
            <a:ext cx="121890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1378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0D869727C83649980E1CC4388589BB" ma:contentTypeVersion="8" ma:contentTypeDescription="Crie um novo documento." ma:contentTypeScope="" ma:versionID="b50e632921332a016aaf4460b4a85b06">
  <xsd:schema xmlns:xsd="http://www.w3.org/2001/XMLSchema" xmlns:xs="http://www.w3.org/2001/XMLSchema" xmlns:p="http://schemas.microsoft.com/office/2006/metadata/properties" xmlns:ns3="92e45cc4-befc-4a19-8d4a-ef33007171a5" targetNamespace="http://schemas.microsoft.com/office/2006/metadata/properties" ma:root="true" ma:fieldsID="1979c9e4e101bc91fc58bcdd84a5bfc1" ns3:_="">
    <xsd:import namespace="92e45cc4-befc-4a19-8d4a-ef33007171a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e45cc4-befc-4a19-8d4a-ef33007171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2e45cc4-befc-4a19-8d4a-ef33007171a5" xsi:nil="true"/>
  </documentManagement>
</p:properties>
</file>

<file path=customXml/itemProps1.xml><?xml version="1.0" encoding="utf-8"?>
<ds:datastoreItem xmlns:ds="http://schemas.openxmlformats.org/officeDocument/2006/customXml" ds:itemID="{03E8B717-6294-4D21-8B10-CDE2D03A865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26B36A3-1BA7-4E0D-9825-A2A1D98E33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2e45cc4-befc-4a19-8d4a-ef33007171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0502B8A-BAC0-4896-BBA9-6295B0189117}">
  <ds:schemaRefs>
    <ds:schemaRef ds:uri="http://www.w3.org/XML/1998/namespace"/>
    <ds:schemaRef ds:uri="92e45cc4-befc-4a19-8d4a-ef33007171a5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purl.org/dc/dcmitype/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2649</TotalTime>
  <Words>1115</Words>
  <Application>Microsoft Office PowerPoint</Application>
  <PresentationFormat>Widescreen</PresentationFormat>
  <Paragraphs>108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2" baseType="lpstr">
      <vt:lpstr>Yu Gothic Light</vt:lpstr>
      <vt:lpstr>Arial</vt:lpstr>
      <vt:lpstr>Calibri</vt:lpstr>
      <vt:lpstr>Calibri Light</vt:lpstr>
      <vt:lpstr>Helvetica World Bold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Olivia Martins Vieira Ferraro</dc:creator>
  <cp:lastModifiedBy>Mariah Luisa de Oliveira Cesar</cp:lastModifiedBy>
  <cp:revision>9</cp:revision>
  <dcterms:created xsi:type="dcterms:W3CDTF">2025-02-24T13:21:31Z</dcterms:created>
  <dcterms:modified xsi:type="dcterms:W3CDTF">2026-09-10T23:13:07Z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0x0101002B0D869727C83649980E1CC4388589BB</vt:lpwstr>
  </property>
</Properties>
</file>